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Century Gothic" panose="020B050202020202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496">
          <p15:clr>
            <a:srgbClr val="A4A3A4"/>
          </p15:clr>
        </p15:guide>
        <p15:guide id="2" pos="6432">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hc7fMym6U4c8VuxUeoLnJxsShOn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D17D83-C695-E84D-8CDE-A945C09350B5}" v="1" dt="2025-08-08T12:35:55.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37"/>
    <p:restoredTop sz="94624"/>
  </p:normalViewPr>
  <p:slideViewPr>
    <p:cSldViewPr snapToGrid="0">
      <p:cViewPr varScale="1">
        <p:scale>
          <a:sx n="117" d="100"/>
          <a:sy n="117" d="100"/>
        </p:scale>
        <p:origin x="200" y="296"/>
      </p:cViewPr>
      <p:guideLst>
        <p:guide orient="horz" pos="2496"/>
        <p:guide pos="64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4.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x, Jada" userId="33fcf8e2-468c-47ed-b9ac-4ff10d5c572a" providerId="ADAL" clId="{3CD17D83-C695-E84D-8CDE-A945C09350B5}"/>
    <pc:docChg chg="custSel modSld">
      <pc:chgData name="Fox, Jada" userId="33fcf8e2-468c-47ed-b9ac-4ff10d5c572a" providerId="ADAL" clId="{3CD17D83-C695-E84D-8CDE-A945C09350B5}" dt="2025-08-08T12:36:35.212" v="47" actId="1076"/>
      <pc:docMkLst>
        <pc:docMk/>
      </pc:docMkLst>
      <pc:sldChg chg="modSp mod">
        <pc:chgData name="Fox, Jada" userId="33fcf8e2-468c-47ed-b9ac-4ff10d5c572a" providerId="ADAL" clId="{3CD17D83-C695-E84D-8CDE-A945C09350B5}" dt="2025-08-08T12:36:35.212" v="47" actId="1076"/>
        <pc:sldMkLst>
          <pc:docMk/>
          <pc:sldMk cId="0" sldId="256"/>
        </pc:sldMkLst>
        <pc:spChg chg="mod">
          <ac:chgData name="Fox, Jada" userId="33fcf8e2-468c-47ed-b9ac-4ff10d5c572a" providerId="ADAL" clId="{3CD17D83-C695-E84D-8CDE-A945C09350B5}" dt="2025-08-08T12:36:15.815" v="17" actId="1076"/>
          <ac:spMkLst>
            <pc:docMk/>
            <pc:sldMk cId="0" sldId="256"/>
            <ac:spMk id="68" creationId="{00000000-0000-0000-0000-000000000000}"/>
          </ac:spMkLst>
        </pc:spChg>
        <pc:spChg chg="mod">
          <ac:chgData name="Fox, Jada" userId="33fcf8e2-468c-47ed-b9ac-4ff10d5c572a" providerId="ADAL" clId="{3CD17D83-C695-E84D-8CDE-A945C09350B5}" dt="2025-08-08T12:36:35.212" v="47" actId="1076"/>
          <ac:spMkLst>
            <pc:docMk/>
            <pc:sldMk cId="0" sldId="256"/>
            <ac:spMk id="69" creationId="{00000000-0000-0000-0000-000000000000}"/>
          </ac:spMkLst>
        </pc:spChg>
      </pc:sldChg>
      <pc:sldChg chg="modSp mod">
        <pc:chgData name="Fox, Jada" userId="33fcf8e2-468c-47ed-b9ac-4ff10d5c572a" providerId="ADAL" clId="{3CD17D83-C695-E84D-8CDE-A945C09350B5}" dt="2025-08-08T12:10:41.211" v="7" actId="20577"/>
        <pc:sldMkLst>
          <pc:docMk/>
          <pc:sldMk cId="0" sldId="263"/>
        </pc:sldMkLst>
        <pc:spChg chg="mod">
          <ac:chgData name="Fox, Jada" userId="33fcf8e2-468c-47ed-b9ac-4ff10d5c572a" providerId="ADAL" clId="{3CD17D83-C695-E84D-8CDE-A945C09350B5}" dt="2025-08-08T12:10:41.211" v="7" actId="20577"/>
          <ac:spMkLst>
            <pc:docMk/>
            <pc:sldMk cId="0" sldId="263"/>
            <ac:spMk id="15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 name="Google Shape;6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728472e4b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728472e4b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12700" lvl="0" indent="0" algn="l" rtl="0">
              <a:lnSpc>
                <a:spcPct val="98181"/>
              </a:lnSpc>
              <a:spcBef>
                <a:spcPts val="0"/>
              </a:spcBef>
              <a:spcAft>
                <a:spcPts val="600"/>
              </a:spcAft>
              <a:buClr>
                <a:schemeClr val="dk1"/>
              </a:buClr>
              <a:buSzPts val="1100"/>
              <a:buFont typeface="Arial"/>
              <a:buNone/>
            </a:pPr>
            <a:r>
              <a:rPr lang="en-US" sz="1800" dirty="0">
                <a:latin typeface="Arial"/>
                <a:ea typeface="Arial"/>
                <a:cs typeface="Arial"/>
                <a:sym typeface="Arial"/>
              </a:rPr>
              <a:t>After the heat treatments, I prepared the samples by grinding and polishing them to a smooth surface so they could be examined under a microscope. </a:t>
            </a:r>
            <a:endParaRPr sz="1800" dirty="0"/>
          </a:p>
        </p:txBody>
      </p:sp>
      <p:sp>
        <p:nvSpPr>
          <p:cNvPr id="81" name="Google Shape;81;g3728472e4b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728472e4b2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728472e4b2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1100"/>
              <a:buFont typeface="Arial"/>
              <a:buNone/>
            </a:pPr>
            <a:r>
              <a:rPr lang="en-US" sz="1900" dirty="0">
                <a:latin typeface="Arial"/>
                <a:ea typeface="Arial"/>
                <a:cs typeface="Arial"/>
                <a:sym typeface="Arial"/>
              </a:rPr>
              <a:t>This process was essential for preparing the surface of each sample for accurate testing and evaluation. I used grit sizes varying from 60 grit to 1200 grit size. And used 9 mm to 1 mm of polishing solution. By practicing using different grit levels I learned to gradually refine the samples surface and remove imperfections. </a:t>
            </a:r>
            <a:endParaRPr dirty="0"/>
          </a:p>
        </p:txBody>
      </p:sp>
      <p:sp>
        <p:nvSpPr>
          <p:cNvPr id="94" name="Google Shape;94;g3728472e4b2_0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728472e4b2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728472e4b2_0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400"/>
              <a:t>To heat treat the samples, I would turn on the furnace with the help of my furnace notes and placed the 4 samples onto a brick and used the gloves and tongs( to decrease the risk of getting burned and accurate placement of the sample inside the furnace.) to place the sample inside the furnace where I would let them heat up from varying temperatures like: 10 minutes to 1 hr. Then air quench for about 15- 20 minutes with the fan and then carve the sample. </a:t>
            </a:r>
            <a:endParaRPr sz="1400"/>
          </a:p>
        </p:txBody>
      </p:sp>
      <p:sp>
        <p:nvSpPr>
          <p:cNvPr id="110" name="Google Shape;110;g3728472e4b2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728472e4b2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728472e4b2_0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600"/>
              <a:t>We noticed with the oil quenched samples that cracks began to form inside the sample after cooling. To prevent that we chose air quenching over oil quenching due to air quenching having a lower cooling rate. We also checked to see if the change in procedure would affect the austenite content inside the samples, we found it did not. </a:t>
            </a:r>
            <a:endParaRPr sz="1600"/>
          </a:p>
        </p:txBody>
      </p:sp>
      <p:sp>
        <p:nvSpPr>
          <p:cNvPr id="125" name="Google Shape;125;g3728472e4b2_0_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728472e4b2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728472e4b2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98181"/>
              </a:lnSpc>
              <a:spcBef>
                <a:spcPts val="1000"/>
              </a:spcBef>
              <a:spcAft>
                <a:spcPts val="0"/>
              </a:spcAft>
              <a:buClr>
                <a:schemeClr val="dk1"/>
              </a:buClr>
              <a:buSzPts val="1100"/>
              <a:buFont typeface="Arial"/>
              <a:buNone/>
            </a:pPr>
            <a:r>
              <a:rPr lang="en-US" sz="1500">
                <a:latin typeface="Arial"/>
                <a:ea typeface="Arial"/>
                <a:cs typeface="Arial"/>
                <a:sym typeface="Arial"/>
              </a:rPr>
              <a:t>In metallurgy, this step is essential for revealing the true microstructure of a metal, especially when using techniques like microscopy or surface characterization. Understanding this process helped me connect the importance of surface preparation to the overall quality of materials research and gave me a deeper appreciation for how precision and cleanliness affect results.</a:t>
            </a:r>
            <a:endParaRPr sz="1500">
              <a:latin typeface="Arial"/>
              <a:ea typeface="Arial"/>
              <a:cs typeface="Arial"/>
              <a:sym typeface="Arial"/>
            </a:endParaRPr>
          </a:p>
          <a:p>
            <a:pPr marL="0" lvl="0" indent="0" algn="l" rtl="0">
              <a:spcBef>
                <a:spcPts val="0"/>
              </a:spcBef>
              <a:spcAft>
                <a:spcPts val="0"/>
              </a:spcAft>
              <a:buNone/>
            </a:pPr>
            <a:endParaRPr b="1"/>
          </a:p>
        </p:txBody>
      </p:sp>
      <p:sp>
        <p:nvSpPr>
          <p:cNvPr id="142" name="Google Shape;142;g3728472e4b2_0_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728472e4b2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728472e4b2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200">
                <a:latin typeface="Arial"/>
                <a:ea typeface="Arial"/>
                <a:cs typeface="Arial"/>
                <a:sym typeface="Arial"/>
              </a:rPr>
              <a:t>At the beginning, I struggled with the polishing process. It was hard to know when a sample was even and flawless, in the beginning I would sometimes leave behind scratches or not grind evenly. . I also found the heat-treating process overwhelming at first, I’ve never handled hot metals and furnace workings before, so I was terrified of messing up the sample or breaking the furnace. </a:t>
            </a:r>
            <a:endParaRPr sz="2200">
              <a:latin typeface="Arial"/>
              <a:ea typeface="Arial"/>
              <a:cs typeface="Arial"/>
              <a:sym typeface="Arial"/>
            </a:endParaRPr>
          </a:p>
        </p:txBody>
      </p:sp>
      <p:sp>
        <p:nvSpPr>
          <p:cNvPr id="156" name="Google Shape;156;g3728472e4b2_0_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728472e4b2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728472e4b2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98181"/>
              </a:lnSpc>
              <a:spcBef>
                <a:spcPts val="1000"/>
              </a:spcBef>
              <a:spcAft>
                <a:spcPts val="0"/>
              </a:spcAft>
              <a:buClr>
                <a:schemeClr val="dk1"/>
              </a:buClr>
              <a:buSzPts val="1100"/>
              <a:buFont typeface="Arial"/>
              <a:buNone/>
            </a:pPr>
            <a:r>
              <a:rPr lang="en-US" sz="2000">
                <a:latin typeface="Arial"/>
                <a:ea typeface="Arial"/>
                <a:cs typeface="Arial"/>
                <a:sym typeface="Arial"/>
              </a:rPr>
              <a:t>By the end of the summer, I was able to prepare high-quality samples. There was a moment where the furnace I spent most of the summer working on broke down, but was able to smoothly transition to a furnace I never used before and continued heat treating. To improve my grinding skills I raised my elbows higher on the grinding wheel which helped create equal pressure on the sample. </a:t>
            </a:r>
            <a:endParaRPr/>
          </a:p>
        </p:txBody>
      </p:sp>
      <p:sp>
        <p:nvSpPr>
          <p:cNvPr id="173" name="Google Shape;173;g3728472e4b2_0_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728472e4b2_0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728472e4b2_0_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g3728472e4b2_0_6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p:nvPr/>
        </p:nvSpPr>
        <p:spPr>
          <a:xfrm>
            <a:off x="0" y="972080"/>
            <a:ext cx="12192000" cy="5159779"/>
          </a:xfrm>
          <a:prstGeom prst="rect">
            <a:avLst/>
          </a:prstGeom>
          <a:gradFill>
            <a:gsLst>
              <a:gs pos="0">
                <a:schemeClr val="dk2"/>
              </a:gs>
              <a:gs pos="39000">
                <a:schemeClr val="dk2"/>
              </a:gs>
              <a:gs pos="74000">
                <a:srgbClr val="077FA4"/>
              </a:gs>
              <a:gs pos="100000">
                <a:schemeClr val="lt1"/>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 name="Google Shape;17;p7"/>
          <p:cNvSpPr txBox="1">
            <a:spLocks noGrp="1"/>
          </p:cNvSpPr>
          <p:nvPr>
            <p:ph type="ctrTitle"/>
          </p:nvPr>
        </p:nvSpPr>
        <p:spPr>
          <a:xfrm>
            <a:off x="86920" y="1122363"/>
            <a:ext cx="9021222"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b="1">
                <a:solidFill>
                  <a:schemeClr val="lt1"/>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subTitle" idx="1"/>
          </p:nvPr>
        </p:nvSpPr>
        <p:spPr>
          <a:xfrm>
            <a:off x="977153" y="4007224"/>
            <a:ext cx="9690847" cy="125057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i="1">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7"/>
          <p:cNvSpPr txBox="1">
            <a:spLocks noGrp="1"/>
          </p:cNvSpPr>
          <p:nvPr>
            <p:ph type="sldNum" idx="12"/>
          </p:nvPr>
        </p:nvSpPr>
        <p:spPr>
          <a:xfrm>
            <a:off x="9296400" y="639258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7" descr="mse_white.psd"/>
          <p:cNvPicPr preferRelativeResize="0"/>
          <p:nvPr/>
        </p:nvPicPr>
        <p:blipFill rotWithShape="1">
          <a:blip r:embed="rId2">
            <a:alphaModFix/>
          </a:blip>
          <a:srcRect/>
          <a:stretch/>
        </p:blipFill>
        <p:spPr>
          <a:xfrm>
            <a:off x="8290337" y="99150"/>
            <a:ext cx="1575340" cy="583302"/>
          </a:xfrm>
          <a:prstGeom prst="rect">
            <a:avLst/>
          </a:prstGeom>
          <a:solidFill>
            <a:srgbClr val="92D050"/>
          </a:solidFill>
          <a:ln>
            <a:noFill/>
          </a:ln>
        </p:spPr>
      </p:pic>
      <p:grpSp>
        <p:nvGrpSpPr>
          <p:cNvPr id="21" name="Google Shape;21;p7"/>
          <p:cNvGrpSpPr/>
          <p:nvPr/>
        </p:nvGrpSpPr>
        <p:grpSpPr>
          <a:xfrm>
            <a:off x="10208849" y="49804"/>
            <a:ext cx="1997304" cy="648515"/>
            <a:chOff x="10181872" y="59834"/>
            <a:chExt cx="2010128" cy="652677"/>
          </a:xfrm>
        </p:grpSpPr>
        <p:sp>
          <p:nvSpPr>
            <p:cNvPr id="22" name="Google Shape;22;p7"/>
            <p:cNvSpPr/>
            <p:nvPr/>
          </p:nvSpPr>
          <p:spPr>
            <a:xfrm>
              <a:off x="10181872" y="83949"/>
              <a:ext cx="1802606" cy="628562"/>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23;p7"/>
            <p:cNvSpPr txBox="1"/>
            <p:nvPr/>
          </p:nvSpPr>
          <p:spPr>
            <a:xfrm>
              <a:off x="10422194" y="59834"/>
              <a:ext cx="1769806" cy="592470"/>
            </a:xfrm>
            <a:prstGeom prst="rect">
              <a:avLst/>
            </a:prstGeom>
            <a:noFill/>
            <a:ln>
              <a:noFill/>
            </a:ln>
          </p:spPr>
          <p:txBody>
            <a:bodyPr spcFirstLastPara="1" wrap="square" lIns="91425" tIns="45700" rIns="91425" bIns="45700" anchor="t" anchorCtr="0">
              <a:spAutoFit/>
            </a:bodyPr>
            <a:lstStyle/>
            <a:p>
              <a:pPr marL="0" marR="0" lvl="0" indent="0" algn="l" rtl="0">
                <a:lnSpc>
                  <a:spcPct val="94285"/>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INNOVATION </a:t>
              </a:r>
              <a:br>
                <a:rPr lang="en-US" sz="1400" b="1" i="0" u="none" strike="noStrike" cap="none">
                  <a:solidFill>
                    <a:schemeClr val="lt1"/>
                  </a:solidFill>
                  <a:latin typeface="Arial"/>
                  <a:ea typeface="Arial"/>
                  <a:cs typeface="Arial"/>
                  <a:sym typeface="Arial"/>
                </a:rPr>
              </a:br>
              <a:r>
                <a:rPr lang="en-US" sz="1400" b="1" i="0" u="none" strike="noStrike" cap="none">
                  <a:solidFill>
                    <a:schemeClr val="lt1"/>
                  </a:solidFill>
                  <a:latin typeface="Arial"/>
                  <a:ea typeface="Arial"/>
                  <a:cs typeface="Arial"/>
                  <a:sym typeface="Arial"/>
                </a:rPr>
                <a:t>PARTNERSHIP </a:t>
              </a:r>
              <a:br>
                <a:rPr lang="en-US" sz="1400" b="1" i="0" u="none" strike="noStrike" cap="none">
                  <a:solidFill>
                    <a:schemeClr val="lt1"/>
                  </a:solidFill>
                  <a:latin typeface="Arial"/>
                  <a:ea typeface="Arial"/>
                  <a:cs typeface="Arial"/>
                  <a:sym typeface="Arial"/>
                </a:rPr>
              </a:br>
              <a:r>
                <a:rPr lang="en-US" sz="1400" b="1" i="0" u="none" strike="noStrike" cap="none">
                  <a:solidFill>
                    <a:schemeClr val="lt1"/>
                  </a:solidFill>
                  <a:latin typeface="Arial"/>
                  <a:ea typeface="Arial"/>
                  <a:cs typeface="Arial"/>
                  <a:sym typeface="Arial"/>
                </a:rPr>
                <a:t>BUILDING</a:t>
              </a:r>
              <a:endParaRPr sz="1400" b="0" i="0" u="none" strike="noStrike" cap="none">
                <a:solidFill>
                  <a:srgbClr val="000000"/>
                </a:solidFill>
                <a:latin typeface="Arial"/>
                <a:ea typeface="Arial"/>
                <a:cs typeface="Arial"/>
                <a:sym typeface="Arial"/>
              </a:endParaRPr>
            </a:p>
          </p:txBody>
        </p:sp>
        <p:sp>
          <p:nvSpPr>
            <p:cNvPr id="24" name="Google Shape;24;p7"/>
            <p:cNvSpPr/>
            <p:nvPr/>
          </p:nvSpPr>
          <p:spPr>
            <a:xfrm>
              <a:off x="10340339" y="173583"/>
              <a:ext cx="46013" cy="456616"/>
            </a:xfrm>
            <a:prstGeom prst="rect">
              <a:avLst/>
            </a:prstGeom>
            <a:solidFill>
              <a:srgbClr val="C2F6F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5" name="Google Shape;25;p7" descr="IMS Logo"/>
          <p:cNvPicPr preferRelativeResize="0"/>
          <p:nvPr/>
        </p:nvPicPr>
        <p:blipFill rotWithShape="1">
          <a:blip r:embed="rId3">
            <a:alphaModFix/>
          </a:blip>
          <a:srcRect/>
          <a:stretch/>
        </p:blipFill>
        <p:spPr>
          <a:xfrm>
            <a:off x="1965225" y="197468"/>
            <a:ext cx="1702359" cy="510708"/>
          </a:xfrm>
          <a:prstGeom prst="rect">
            <a:avLst/>
          </a:prstGeom>
          <a:noFill/>
          <a:ln>
            <a:noFill/>
          </a:ln>
        </p:spPr>
      </p:pic>
      <p:pic>
        <p:nvPicPr>
          <p:cNvPr id="26" name="Google Shape;26;p7"/>
          <p:cNvPicPr preferRelativeResize="0"/>
          <p:nvPr/>
        </p:nvPicPr>
        <p:blipFill rotWithShape="1">
          <a:blip r:embed="rId4">
            <a:alphaModFix/>
          </a:blip>
          <a:srcRect/>
          <a:stretch/>
        </p:blipFill>
        <p:spPr>
          <a:xfrm>
            <a:off x="86919" y="271318"/>
            <a:ext cx="1573392" cy="325081"/>
          </a:xfrm>
          <a:prstGeom prst="rect">
            <a:avLst/>
          </a:prstGeom>
          <a:noFill/>
          <a:ln>
            <a:noFill/>
          </a:ln>
        </p:spPr>
      </p:pic>
      <p:cxnSp>
        <p:nvCxnSpPr>
          <p:cNvPr id="27" name="Google Shape;27;p7"/>
          <p:cNvCxnSpPr/>
          <p:nvPr/>
        </p:nvCxnSpPr>
        <p:spPr>
          <a:xfrm>
            <a:off x="0" y="954150"/>
            <a:ext cx="12206153" cy="0"/>
          </a:xfrm>
          <a:prstGeom prst="straightConnector1">
            <a:avLst/>
          </a:prstGeom>
          <a:noFill/>
          <a:ln w="76200" cap="flat" cmpd="dbl">
            <a:solidFill>
              <a:schemeClr val="dk2"/>
            </a:solidFill>
            <a:prstDash val="solid"/>
            <a:miter lim="800000"/>
            <a:headEnd type="none" w="sm" len="sm"/>
            <a:tailEnd type="none" w="sm" len="sm"/>
          </a:ln>
        </p:spPr>
      </p:cxnSp>
      <p:cxnSp>
        <p:nvCxnSpPr>
          <p:cNvPr id="28" name="Google Shape;28;p7"/>
          <p:cNvCxnSpPr/>
          <p:nvPr/>
        </p:nvCxnSpPr>
        <p:spPr>
          <a:xfrm>
            <a:off x="0" y="6171338"/>
            <a:ext cx="12206153" cy="0"/>
          </a:xfrm>
          <a:prstGeom prst="straightConnector1">
            <a:avLst/>
          </a:prstGeom>
          <a:noFill/>
          <a:ln w="76200" cap="flat" cmpd="dbl">
            <a:solidFill>
              <a:srgbClr val="002060"/>
            </a:solidFill>
            <a:prstDash val="solid"/>
            <a:miter lim="800000"/>
            <a:headEnd type="none" w="sm" len="sm"/>
            <a:tailEnd type="none" w="sm" len="sm"/>
          </a:ln>
        </p:spPr>
      </p:cxnSp>
      <p:sp>
        <p:nvSpPr>
          <p:cNvPr id="29" name="Google Shape;29;p7"/>
          <p:cNvSpPr txBox="1"/>
          <p:nvPr/>
        </p:nvSpPr>
        <p:spPr>
          <a:xfrm>
            <a:off x="7723" y="6369635"/>
            <a:ext cx="280868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accent3"/>
                </a:solidFill>
                <a:latin typeface="Century Gothic"/>
                <a:ea typeface="Century Gothic"/>
                <a:cs typeface="Century Gothic"/>
                <a:sym typeface="Century Gothic"/>
              </a:rPr>
              <a:t>Frame Research Group</a:t>
            </a:r>
            <a:endParaRPr sz="1600" b="1" i="1" u="none" strike="noStrike" cap="none">
              <a:solidFill>
                <a:schemeClr val="accent3"/>
              </a:solidFill>
              <a:latin typeface="Century Gothic"/>
              <a:ea typeface="Century Gothic"/>
              <a:cs typeface="Century Gothic"/>
              <a:sym typeface="Century 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71718" y="82677"/>
            <a:ext cx="10345270" cy="786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000"/>
              <a:buFont typeface="Century Gothic"/>
              <a:buNone/>
              <a:defRPr sz="4000" b="1">
                <a:solidFill>
                  <a:schemeClr val="dk2"/>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322729" y="1255059"/>
            <a:ext cx="11031071" cy="4921904"/>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2"/>
              </a:buClr>
              <a:buSzPts val="2800"/>
              <a:buChar char="•"/>
              <a:defRPr>
                <a:solidFill>
                  <a:schemeClr val="dk2"/>
                </a:solidFill>
              </a:defRPr>
            </a:lvl1pPr>
            <a:lvl2pPr marL="914400" lvl="1" indent="-381000" algn="l">
              <a:lnSpc>
                <a:spcPct val="90000"/>
              </a:lnSpc>
              <a:spcBef>
                <a:spcPts val="500"/>
              </a:spcBef>
              <a:spcAft>
                <a:spcPts val="0"/>
              </a:spcAft>
              <a:buClr>
                <a:schemeClr val="dk2"/>
              </a:buClr>
              <a:buSzPts val="2400"/>
              <a:buChar char="•"/>
              <a:defRPr i="1">
                <a:solidFill>
                  <a:schemeClr val="dk2"/>
                </a:solidFill>
              </a:defRPr>
            </a:lvl2pPr>
            <a:lvl3pPr marL="1371600" lvl="2" indent="-355600" algn="l">
              <a:lnSpc>
                <a:spcPct val="90000"/>
              </a:lnSpc>
              <a:spcBef>
                <a:spcPts val="500"/>
              </a:spcBef>
              <a:spcAft>
                <a:spcPts val="0"/>
              </a:spcAft>
              <a:buClr>
                <a:schemeClr val="dk2"/>
              </a:buClr>
              <a:buSzPts val="2000"/>
              <a:buChar char="•"/>
              <a:defRPr>
                <a:solidFill>
                  <a:schemeClr val="dk2"/>
                </a:solidFill>
              </a:defRPr>
            </a:lvl3pPr>
            <a:lvl4pPr marL="1828800" lvl="3" indent="-342900" algn="l">
              <a:lnSpc>
                <a:spcPct val="90000"/>
              </a:lnSpc>
              <a:spcBef>
                <a:spcPts val="500"/>
              </a:spcBef>
              <a:spcAft>
                <a:spcPts val="0"/>
              </a:spcAft>
              <a:buClr>
                <a:schemeClr val="dk2"/>
              </a:buClr>
              <a:buSzPts val="1800"/>
              <a:buChar char="•"/>
              <a:defRPr i="1">
                <a:solidFill>
                  <a:schemeClr val="dk2"/>
                </a:solidFill>
              </a:defRPr>
            </a:lvl4pPr>
            <a:lvl5pPr marL="2286000" lvl="4" indent="-342900" algn="l">
              <a:lnSpc>
                <a:spcPct val="90000"/>
              </a:lnSpc>
              <a:spcBef>
                <a:spcPts val="500"/>
              </a:spcBef>
              <a:spcAft>
                <a:spcPts val="0"/>
              </a:spcAft>
              <a:buClr>
                <a:schemeClr val="dk2"/>
              </a:buClr>
              <a:buSzPts val="1800"/>
              <a:buChar char="•"/>
              <a:defRPr>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
          <p:cNvSpPr txBox="1">
            <a:spLocks noGrp="1"/>
          </p:cNvSpPr>
          <p:nvPr>
            <p:ph type="sldNum" idx="12"/>
          </p:nvPr>
        </p:nvSpPr>
        <p:spPr>
          <a:xfrm>
            <a:off x="9299448" y="639165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34" name="Google Shape;34;p8"/>
          <p:cNvCxnSpPr/>
          <p:nvPr/>
        </p:nvCxnSpPr>
        <p:spPr>
          <a:xfrm>
            <a:off x="0" y="954150"/>
            <a:ext cx="12206153" cy="0"/>
          </a:xfrm>
          <a:prstGeom prst="straightConnector1">
            <a:avLst/>
          </a:prstGeom>
          <a:noFill/>
          <a:ln w="76200" cap="flat" cmpd="dbl">
            <a:solidFill>
              <a:schemeClr val="dk2"/>
            </a:solidFill>
            <a:prstDash val="solid"/>
            <a:miter lim="800000"/>
            <a:headEnd type="none" w="sm" len="sm"/>
            <a:tailEnd type="none" w="sm" len="sm"/>
          </a:ln>
        </p:spPr>
      </p:cxnSp>
      <p:sp>
        <p:nvSpPr>
          <p:cNvPr id="35" name="Google Shape;35;p8"/>
          <p:cNvSpPr txBox="1"/>
          <p:nvPr/>
        </p:nvSpPr>
        <p:spPr>
          <a:xfrm>
            <a:off x="-1242" y="6513070"/>
            <a:ext cx="280868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accent3"/>
                </a:solidFill>
                <a:latin typeface="Century Gothic"/>
                <a:ea typeface="Century Gothic"/>
                <a:cs typeface="Century Gothic"/>
                <a:sym typeface="Century Gothic"/>
              </a:rPr>
              <a:t>Frame Research Group</a:t>
            </a:r>
            <a:endParaRPr sz="1600" b="1" i="1" u="none" strike="noStrike" cap="none">
              <a:solidFill>
                <a:schemeClr val="accent3"/>
              </a:solidFill>
              <a:latin typeface="Century Gothic"/>
              <a:ea typeface="Century Gothic"/>
              <a:cs typeface="Century Gothic"/>
              <a:sym typeface="Century Gothic"/>
            </a:endParaRPr>
          </a:p>
        </p:txBody>
      </p:sp>
      <p:pic>
        <p:nvPicPr>
          <p:cNvPr id="36" name="Google Shape;36;p8"/>
          <p:cNvPicPr preferRelativeResize="0"/>
          <p:nvPr/>
        </p:nvPicPr>
        <p:blipFill rotWithShape="1">
          <a:blip r:embed="rId2">
            <a:alphaModFix/>
          </a:blip>
          <a:srcRect/>
          <a:stretch/>
        </p:blipFill>
        <p:spPr>
          <a:xfrm>
            <a:off x="10494942" y="292962"/>
            <a:ext cx="1573392" cy="32508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9"/>
          <p:cNvSpPr/>
          <p:nvPr/>
        </p:nvSpPr>
        <p:spPr>
          <a:xfrm>
            <a:off x="0" y="972080"/>
            <a:ext cx="12192000" cy="5159779"/>
          </a:xfrm>
          <a:prstGeom prst="rect">
            <a:avLst/>
          </a:prstGeom>
          <a:gradFill>
            <a:gsLst>
              <a:gs pos="0">
                <a:schemeClr val="dk2"/>
              </a:gs>
              <a:gs pos="39000">
                <a:schemeClr val="dk2"/>
              </a:gs>
              <a:gs pos="74000">
                <a:srgbClr val="077FA4"/>
              </a:gs>
              <a:gs pos="100000">
                <a:schemeClr val="lt1"/>
              </a:gs>
            </a:gsLst>
            <a:path path="circle">
              <a:fillToRect r="100000" b="100000"/>
            </a:path>
            <a:tileRect l="-100000" t="-10000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 name="Google Shape;39;p9"/>
          <p:cNvSpPr/>
          <p:nvPr/>
        </p:nvSpPr>
        <p:spPr>
          <a:xfrm>
            <a:off x="0" y="0"/>
            <a:ext cx="12192000" cy="3926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0" name="Google Shape;40;p9"/>
          <p:cNvSpPr txBox="1">
            <a:spLocks noGrp="1"/>
          </p:cNvSpPr>
          <p:nvPr>
            <p:ph type="title"/>
          </p:nvPr>
        </p:nvSpPr>
        <p:spPr>
          <a:xfrm>
            <a:off x="831850" y="1709738"/>
            <a:ext cx="10515600" cy="22168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400"/>
              <a:buFont typeface="Century Gothic"/>
              <a:buNone/>
              <a:defRPr sz="5400" b="1">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9"/>
          <p:cNvSpPr txBox="1">
            <a:spLocks noGrp="1"/>
          </p:cNvSpPr>
          <p:nvPr>
            <p:ph type="body" idx="1"/>
          </p:nvPr>
        </p:nvSpPr>
        <p:spPr>
          <a:xfrm>
            <a:off x="831850" y="3952968"/>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400"/>
              <a:buNone/>
              <a:defRPr sz="2400" i="1">
                <a:solidFill>
                  <a:schemeClr val="lt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9"/>
          <p:cNvSpPr txBox="1">
            <a:spLocks noGrp="1"/>
          </p:cNvSpPr>
          <p:nvPr>
            <p:ph type="sldNum" idx="12"/>
          </p:nvPr>
        </p:nvSpPr>
        <p:spPr>
          <a:xfrm>
            <a:off x="9299448" y="639165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3" name="Google Shape;43;p9"/>
          <p:cNvSpPr txBox="1"/>
          <p:nvPr/>
        </p:nvSpPr>
        <p:spPr>
          <a:xfrm>
            <a:off x="-1242" y="6513070"/>
            <a:ext cx="280868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accent3"/>
                </a:solidFill>
                <a:latin typeface="Century Gothic"/>
                <a:ea typeface="Century Gothic"/>
                <a:cs typeface="Century Gothic"/>
                <a:sym typeface="Century Gothic"/>
              </a:rPr>
              <a:t>Frame Research Group</a:t>
            </a:r>
            <a:endParaRPr sz="1600" b="1" i="1" u="none" strike="noStrike" cap="none">
              <a:solidFill>
                <a:schemeClr val="accent3"/>
              </a:solidFill>
              <a:latin typeface="Century Gothic"/>
              <a:ea typeface="Century Gothic"/>
              <a:cs typeface="Century Gothic"/>
              <a:sym typeface="Century Gothic"/>
            </a:endParaRPr>
          </a:p>
        </p:txBody>
      </p:sp>
      <p:pic>
        <p:nvPicPr>
          <p:cNvPr id="44" name="Google Shape;44;p9"/>
          <p:cNvPicPr preferRelativeResize="0"/>
          <p:nvPr/>
        </p:nvPicPr>
        <p:blipFill rotWithShape="1">
          <a:blip r:embed="rId2">
            <a:alphaModFix/>
          </a:blip>
          <a:srcRect/>
          <a:stretch/>
        </p:blipFill>
        <p:spPr>
          <a:xfrm>
            <a:off x="10494942" y="292962"/>
            <a:ext cx="1573392" cy="32508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73152" y="82296"/>
            <a:ext cx="10341864" cy="78638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000"/>
              <a:buFont typeface="Century Gothic"/>
              <a:buNone/>
              <a:defRPr sz="4000" b="1">
                <a:solidFill>
                  <a:schemeClr val="dk2"/>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body" idx="1"/>
          </p:nvPr>
        </p:nvSpPr>
        <p:spPr>
          <a:xfrm>
            <a:off x="838200" y="1204787"/>
            <a:ext cx="5181600" cy="49721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0"/>
          <p:cNvSpPr txBox="1">
            <a:spLocks noGrp="1"/>
          </p:cNvSpPr>
          <p:nvPr>
            <p:ph type="body" idx="2"/>
          </p:nvPr>
        </p:nvSpPr>
        <p:spPr>
          <a:xfrm>
            <a:off x="6172200" y="1204787"/>
            <a:ext cx="5181600" cy="49721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0"/>
          <p:cNvSpPr txBox="1">
            <a:spLocks noGrp="1"/>
          </p:cNvSpPr>
          <p:nvPr>
            <p:ph type="sldNum" idx="12"/>
          </p:nvPr>
        </p:nvSpPr>
        <p:spPr>
          <a:xfrm>
            <a:off x="9299448" y="639165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50" name="Google Shape;50;p10"/>
          <p:cNvCxnSpPr/>
          <p:nvPr/>
        </p:nvCxnSpPr>
        <p:spPr>
          <a:xfrm>
            <a:off x="0" y="954150"/>
            <a:ext cx="12206153" cy="0"/>
          </a:xfrm>
          <a:prstGeom prst="straightConnector1">
            <a:avLst/>
          </a:prstGeom>
          <a:noFill/>
          <a:ln w="76200" cap="flat" cmpd="dbl">
            <a:solidFill>
              <a:schemeClr val="dk2"/>
            </a:solidFill>
            <a:prstDash val="solid"/>
            <a:miter lim="800000"/>
            <a:headEnd type="none" w="sm" len="sm"/>
            <a:tailEnd type="none" w="sm" len="sm"/>
          </a:ln>
        </p:spPr>
      </p:cxnSp>
      <p:sp>
        <p:nvSpPr>
          <p:cNvPr id="51" name="Google Shape;51;p10"/>
          <p:cNvSpPr txBox="1"/>
          <p:nvPr/>
        </p:nvSpPr>
        <p:spPr>
          <a:xfrm>
            <a:off x="-1242" y="6513070"/>
            <a:ext cx="280868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accent3"/>
                </a:solidFill>
                <a:latin typeface="Century Gothic"/>
                <a:ea typeface="Century Gothic"/>
                <a:cs typeface="Century Gothic"/>
                <a:sym typeface="Century Gothic"/>
              </a:rPr>
              <a:t>Frame Research Group</a:t>
            </a:r>
            <a:endParaRPr sz="1600" b="1" i="1" u="none" strike="noStrike" cap="none">
              <a:solidFill>
                <a:schemeClr val="accent3"/>
              </a:solidFill>
              <a:latin typeface="Century Gothic"/>
              <a:ea typeface="Century Gothic"/>
              <a:cs typeface="Century Gothic"/>
              <a:sym typeface="Century Gothic"/>
            </a:endParaRPr>
          </a:p>
        </p:txBody>
      </p:sp>
      <p:pic>
        <p:nvPicPr>
          <p:cNvPr id="52" name="Google Shape;52;p10"/>
          <p:cNvPicPr preferRelativeResize="0"/>
          <p:nvPr/>
        </p:nvPicPr>
        <p:blipFill rotWithShape="1">
          <a:blip r:embed="rId2">
            <a:alphaModFix/>
          </a:blip>
          <a:srcRect/>
          <a:stretch/>
        </p:blipFill>
        <p:spPr>
          <a:xfrm>
            <a:off x="10494942" y="292962"/>
            <a:ext cx="1573392" cy="32508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xfrm>
            <a:off x="73152" y="82296"/>
            <a:ext cx="10341864" cy="78638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000"/>
              <a:buFont typeface="Century Gothic"/>
              <a:buNone/>
              <a:defRPr sz="4000" b="1">
                <a:solidFill>
                  <a:schemeClr val="dk2"/>
                </a:solidFill>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1"/>
          <p:cNvSpPr txBox="1">
            <a:spLocks noGrp="1"/>
          </p:cNvSpPr>
          <p:nvPr>
            <p:ph type="sldNum" idx="12"/>
          </p:nvPr>
        </p:nvSpPr>
        <p:spPr>
          <a:xfrm>
            <a:off x="9299448" y="639165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56" name="Google Shape;56;p11"/>
          <p:cNvCxnSpPr/>
          <p:nvPr/>
        </p:nvCxnSpPr>
        <p:spPr>
          <a:xfrm>
            <a:off x="0" y="954150"/>
            <a:ext cx="12206153" cy="0"/>
          </a:xfrm>
          <a:prstGeom prst="straightConnector1">
            <a:avLst/>
          </a:prstGeom>
          <a:noFill/>
          <a:ln w="76200" cap="flat" cmpd="dbl">
            <a:solidFill>
              <a:schemeClr val="dk2"/>
            </a:solidFill>
            <a:prstDash val="solid"/>
            <a:miter lim="800000"/>
            <a:headEnd type="none" w="sm" len="sm"/>
            <a:tailEnd type="none" w="sm" len="sm"/>
          </a:ln>
        </p:spPr>
      </p:cxnSp>
      <p:sp>
        <p:nvSpPr>
          <p:cNvPr id="57" name="Google Shape;57;p11"/>
          <p:cNvSpPr txBox="1"/>
          <p:nvPr/>
        </p:nvSpPr>
        <p:spPr>
          <a:xfrm>
            <a:off x="-1242" y="6513070"/>
            <a:ext cx="280868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accent3"/>
                </a:solidFill>
                <a:latin typeface="Century Gothic"/>
                <a:ea typeface="Century Gothic"/>
                <a:cs typeface="Century Gothic"/>
                <a:sym typeface="Century Gothic"/>
              </a:rPr>
              <a:t>Frame Research Group</a:t>
            </a:r>
            <a:endParaRPr sz="1600" b="1" i="1" u="none" strike="noStrike" cap="none">
              <a:solidFill>
                <a:schemeClr val="accent3"/>
              </a:solidFill>
              <a:latin typeface="Century Gothic"/>
              <a:ea typeface="Century Gothic"/>
              <a:cs typeface="Century Gothic"/>
              <a:sym typeface="Century Gothic"/>
            </a:endParaRPr>
          </a:p>
        </p:txBody>
      </p:sp>
      <p:pic>
        <p:nvPicPr>
          <p:cNvPr id="58" name="Google Shape;58;p11"/>
          <p:cNvPicPr preferRelativeResize="0"/>
          <p:nvPr/>
        </p:nvPicPr>
        <p:blipFill rotWithShape="1">
          <a:blip r:embed="rId2">
            <a:alphaModFix/>
          </a:blip>
          <a:srcRect/>
          <a:stretch/>
        </p:blipFill>
        <p:spPr>
          <a:xfrm>
            <a:off x="10494942" y="292962"/>
            <a:ext cx="1573392" cy="32508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12"/>
          <p:cNvSpPr txBox="1">
            <a:spLocks noGrp="1"/>
          </p:cNvSpPr>
          <p:nvPr>
            <p:ph type="sldNum" idx="12"/>
          </p:nvPr>
        </p:nvSpPr>
        <p:spPr>
          <a:xfrm>
            <a:off x="9299448" y="639165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61" name="Google Shape;61;p12"/>
          <p:cNvCxnSpPr/>
          <p:nvPr/>
        </p:nvCxnSpPr>
        <p:spPr>
          <a:xfrm>
            <a:off x="0" y="954150"/>
            <a:ext cx="12206153" cy="0"/>
          </a:xfrm>
          <a:prstGeom prst="straightConnector1">
            <a:avLst/>
          </a:prstGeom>
          <a:noFill/>
          <a:ln w="76200" cap="flat" cmpd="dbl">
            <a:solidFill>
              <a:schemeClr val="dk2"/>
            </a:solidFill>
            <a:prstDash val="solid"/>
            <a:miter lim="800000"/>
            <a:headEnd type="none" w="sm" len="sm"/>
            <a:tailEnd type="none" w="sm" len="sm"/>
          </a:ln>
        </p:spPr>
      </p:cxnSp>
      <p:sp>
        <p:nvSpPr>
          <p:cNvPr id="62" name="Google Shape;62;p12"/>
          <p:cNvSpPr txBox="1"/>
          <p:nvPr/>
        </p:nvSpPr>
        <p:spPr>
          <a:xfrm>
            <a:off x="-1242" y="6513070"/>
            <a:ext cx="2808681"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1" u="none" strike="noStrike" cap="none">
                <a:solidFill>
                  <a:schemeClr val="accent3"/>
                </a:solidFill>
                <a:latin typeface="Century Gothic"/>
                <a:ea typeface="Century Gothic"/>
                <a:cs typeface="Century Gothic"/>
                <a:sym typeface="Century Gothic"/>
              </a:rPr>
              <a:t>Frame Research Group</a:t>
            </a:r>
            <a:endParaRPr sz="1600" b="1" i="1" u="none" strike="noStrike" cap="none">
              <a:solidFill>
                <a:schemeClr val="accent3"/>
              </a:solidFill>
              <a:latin typeface="Century Gothic"/>
              <a:ea typeface="Century Gothic"/>
              <a:cs typeface="Century Gothic"/>
              <a:sym typeface="Century Gothic"/>
            </a:endParaRPr>
          </a:p>
        </p:txBody>
      </p:sp>
      <p:pic>
        <p:nvPicPr>
          <p:cNvPr id="63" name="Google Shape;63;p12"/>
          <p:cNvPicPr preferRelativeResize="0"/>
          <p:nvPr/>
        </p:nvPicPr>
        <p:blipFill rotWithShape="1">
          <a:blip r:embed="rId2">
            <a:alphaModFix/>
          </a:blip>
          <a:srcRect/>
          <a:stretch/>
        </p:blipFill>
        <p:spPr>
          <a:xfrm>
            <a:off x="10494942" y="292962"/>
            <a:ext cx="1573392" cy="32508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image" Target="../media/image20.jpg"/></Relationships>
</file>

<file path=ppt/slides/_rels/slide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jpg"/></Relationships>
</file>

<file path=ppt/slides/_rels/slide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8.jpg"/><Relationship Id="rId4" Type="http://schemas.openxmlformats.org/officeDocument/2006/relationships/image" Target="../media/image27.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2"/>
          <p:cNvSpPr txBox="1">
            <a:spLocks noGrp="1"/>
          </p:cNvSpPr>
          <p:nvPr>
            <p:ph type="ctrTitle"/>
          </p:nvPr>
        </p:nvSpPr>
        <p:spPr>
          <a:xfrm>
            <a:off x="977153" y="1600076"/>
            <a:ext cx="9021300" cy="2387700"/>
          </a:xfrm>
          <a:prstGeom prst="rect">
            <a:avLst/>
          </a:prstGeom>
          <a:noFill/>
          <a:ln>
            <a:noFill/>
          </a:ln>
        </p:spPr>
        <p:txBody>
          <a:bodyPr spcFirstLastPara="1" wrap="square" lIns="91425" tIns="45700" rIns="91425" bIns="45700" anchor="b" anchorCtr="0">
            <a:normAutofit fontScale="90000"/>
          </a:bodyPr>
          <a:lstStyle/>
          <a:p>
            <a:pPr lvl="0">
              <a:buSzPts val="2400"/>
            </a:pPr>
            <a:r>
              <a:rPr lang="en-US" sz="5000" dirty="0">
                <a:solidFill>
                  <a:srgbClr val="FFFFFF"/>
                </a:solidFill>
              </a:rPr>
              <a:t>Impact of phase assemblage and grain morphology</a:t>
            </a:r>
            <a:br>
              <a:rPr lang="en-US" sz="5000" dirty="0">
                <a:solidFill>
                  <a:srgbClr val="FFFFFF"/>
                </a:solidFill>
              </a:rPr>
            </a:br>
            <a:r>
              <a:rPr lang="en-US" sz="5000" dirty="0">
                <a:solidFill>
                  <a:srgbClr val="FFFFFF"/>
                </a:solidFill>
              </a:rPr>
              <a:t> on retained austenite stability </a:t>
            </a:r>
          </a:p>
        </p:txBody>
      </p:sp>
      <p:sp>
        <p:nvSpPr>
          <p:cNvPr id="69" name="Google Shape;69;p2"/>
          <p:cNvSpPr txBox="1">
            <a:spLocks noGrp="1"/>
          </p:cNvSpPr>
          <p:nvPr>
            <p:ph type="subTitle" idx="1"/>
          </p:nvPr>
        </p:nvSpPr>
        <p:spPr>
          <a:xfrm>
            <a:off x="977100" y="4235824"/>
            <a:ext cx="9690900" cy="1250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r>
              <a:rPr lang="en-US" dirty="0"/>
              <a:t>By: Jada Fox </a:t>
            </a:r>
            <a:endParaRPr dirty="0"/>
          </a:p>
          <a:p>
            <a:pPr marL="0" lvl="0" indent="0" algn="l" rtl="0">
              <a:lnSpc>
                <a:spcPct val="90000"/>
              </a:lnSpc>
              <a:spcBef>
                <a:spcPts val="0"/>
              </a:spcBef>
              <a:spcAft>
                <a:spcPts val="0"/>
              </a:spcAft>
              <a:buClr>
                <a:schemeClr val="lt1"/>
              </a:buClr>
              <a:buSzPts val="2400"/>
              <a:buNone/>
            </a:pPr>
            <a:r>
              <a:rPr lang="en-US" sz="1800" i="0" dirty="0">
                <a:solidFill>
                  <a:srgbClr val="FFFFFF"/>
                </a:solidFill>
              </a:rPr>
              <a:t>Summer Research Project </a:t>
            </a:r>
          </a:p>
          <a:p>
            <a:pPr marL="0" lvl="0" indent="0" algn="l" rtl="0">
              <a:lnSpc>
                <a:spcPct val="90000"/>
              </a:lnSpc>
              <a:spcBef>
                <a:spcPts val="0"/>
              </a:spcBef>
              <a:spcAft>
                <a:spcPts val="0"/>
              </a:spcAft>
              <a:buClr>
                <a:schemeClr val="lt1"/>
              </a:buClr>
              <a:buSzPts val="2400"/>
              <a:buNone/>
            </a:pPr>
            <a:r>
              <a:rPr lang="en-US" sz="1800" i="0" dirty="0">
                <a:solidFill>
                  <a:srgbClr val="FFFFFF"/>
                </a:solidFill>
              </a:rPr>
              <a:t>Anupam Saha &amp; Timken Steel Co. </a:t>
            </a:r>
            <a:endParaRPr sz="1800" dirty="0"/>
          </a:p>
        </p:txBody>
      </p:sp>
      <p:sp>
        <p:nvSpPr>
          <p:cNvPr id="70" name="Google Shape;70;p2"/>
          <p:cNvSpPr txBox="1">
            <a:spLocks noGrp="1"/>
          </p:cNvSpPr>
          <p:nvPr>
            <p:ph type="sldNum" idx="12"/>
          </p:nvPr>
        </p:nvSpPr>
        <p:spPr>
          <a:xfrm>
            <a:off x="9296400" y="639258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title"/>
          </p:nvPr>
        </p:nvSpPr>
        <p:spPr>
          <a:xfrm>
            <a:off x="322718" y="115527"/>
            <a:ext cx="10345200" cy="7869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2"/>
              </a:buClr>
              <a:buSzPct val="90000"/>
              <a:buFont typeface="Century Gothic"/>
              <a:buNone/>
            </a:pPr>
            <a:r>
              <a:rPr lang="en-US" sz="4444"/>
              <a:t>Introduction: Overview Of My Workings</a:t>
            </a:r>
            <a:r>
              <a:rPr lang="en-US" sz="5000" b="0">
                <a:solidFill>
                  <a:schemeClr val="dk1"/>
                </a:solidFill>
                <a:latin typeface="Arial"/>
                <a:ea typeface="Arial"/>
                <a:cs typeface="Arial"/>
                <a:sym typeface="Arial"/>
              </a:rPr>
              <a:t> </a:t>
            </a:r>
            <a:endParaRPr/>
          </a:p>
        </p:txBody>
      </p:sp>
      <p:sp>
        <p:nvSpPr>
          <p:cNvPr id="76" name="Google Shape;76;p3"/>
          <p:cNvSpPr txBox="1">
            <a:spLocks noGrp="1"/>
          </p:cNvSpPr>
          <p:nvPr>
            <p:ph type="body" idx="1"/>
          </p:nvPr>
        </p:nvSpPr>
        <p:spPr>
          <a:xfrm>
            <a:off x="322729" y="1501446"/>
            <a:ext cx="11031000" cy="49218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dk1"/>
              </a:buClr>
              <a:buSzPts val="1100"/>
              <a:buFont typeface="Arial"/>
              <a:buNone/>
            </a:pPr>
            <a:r>
              <a:rPr lang="en-US" sz="3000">
                <a:solidFill>
                  <a:schemeClr val="dk1"/>
                </a:solidFill>
                <a:latin typeface="Arial"/>
                <a:ea typeface="Arial"/>
                <a:cs typeface="Arial"/>
                <a:sym typeface="Arial"/>
              </a:rPr>
              <a:t>Worked in Dr. Frame’s Lab on the Timken Steel Project</a:t>
            </a:r>
            <a:endParaRPr sz="300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US" sz="3000">
                <a:solidFill>
                  <a:schemeClr val="dk1"/>
                </a:solidFill>
                <a:latin typeface="Arial"/>
                <a:ea typeface="Arial"/>
                <a:cs typeface="Arial"/>
                <a:sym typeface="Arial"/>
              </a:rPr>
              <a:t>Goal: Stabilize retained austenite by increasing carbon content</a:t>
            </a:r>
            <a:endParaRPr sz="300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US" sz="3000">
                <a:solidFill>
                  <a:schemeClr val="dk1"/>
                </a:solidFill>
                <a:latin typeface="Arial"/>
                <a:ea typeface="Arial"/>
                <a:cs typeface="Arial"/>
                <a:sym typeface="Arial"/>
              </a:rPr>
              <a:t>Gained hands-on experience in:</a:t>
            </a:r>
            <a:endParaRPr sz="3000">
              <a:solidFill>
                <a:schemeClr val="dk1"/>
              </a:solidFill>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3000">
                <a:solidFill>
                  <a:schemeClr val="dk1"/>
                </a:solidFill>
                <a:latin typeface="Arial"/>
                <a:ea typeface="Arial"/>
                <a:cs typeface="Arial"/>
                <a:sym typeface="Arial"/>
              </a:rPr>
              <a:t>Steel processing and microstructure</a:t>
            </a:r>
            <a:endParaRPr sz="300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3000">
                <a:solidFill>
                  <a:schemeClr val="dk1"/>
                </a:solidFill>
                <a:latin typeface="Arial"/>
                <a:ea typeface="Arial"/>
                <a:cs typeface="Arial"/>
                <a:sym typeface="Arial"/>
              </a:rPr>
              <a:t>Metallurgical techniques (grinding, polishing)</a:t>
            </a:r>
            <a:endParaRPr sz="3000">
              <a:solidFill>
                <a:schemeClr val="dk1"/>
              </a:solidFill>
              <a:latin typeface="Arial"/>
              <a:ea typeface="Arial"/>
              <a:cs typeface="Arial"/>
              <a:sym typeface="Arial"/>
            </a:endParaRPr>
          </a:p>
          <a:p>
            <a:pPr marL="0" lvl="0" indent="0" algn="l" rtl="0">
              <a:lnSpc>
                <a:spcPct val="98181"/>
              </a:lnSpc>
              <a:spcBef>
                <a:spcPts val="1200"/>
              </a:spcBef>
              <a:spcAft>
                <a:spcPts val="0"/>
              </a:spcAft>
              <a:buClr>
                <a:schemeClr val="dk1"/>
              </a:buClr>
              <a:buSzPts val="1100"/>
              <a:buFont typeface="Arial"/>
              <a:buNone/>
            </a:pPr>
            <a:endParaRPr sz="3000">
              <a:solidFill>
                <a:schemeClr val="dk1"/>
              </a:solidFill>
              <a:latin typeface="Arial"/>
              <a:ea typeface="Arial"/>
              <a:cs typeface="Arial"/>
              <a:sym typeface="Arial"/>
            </a:endParaRPr>
          </a:p>
          <a:p>
            <a:pPr marL="228600" lvl="0" indent="-50800" algn="l" rtl="0">
              <a:lnSpc>
                <a:spcPct val="90000"/>
              </a:lnSpc>
              <a:spcBef>
                <a:spcPts val="0"/>
              </a:spcBef>
              <a:spcAft>
                <a:spcPts val="0"/>
              </a:spcAft>
              <a:buClr>
                <a:schemeClr val="dk2"/>
              </a:buClr>
              <a:buSzPts val="2800"/>
              <a:buNone/>
            </a:pPr>
            <a:endParaRPr/>
          </a:p>
        </p:txBody>
      </p:sp>
      <p:sp>
        <p:nvSpPr>
          <p:cNvPr id="77" name="Google Shape;77;p3"/>
          <p:cNvSpPr txBox="1">
            <a:spLocks noGrp="1"/>
          </p:cNvSpPr>
          <p:nvPr>
            <p:ph type="sldNum" idx="12"/>
          </p:nvPr>
        </p:nvSpPr>
        <p:spPr>
          <a:xfrm>
            <a:off x="9299448" y="6391656"/>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g3728472e4b2_0_0"/>
          <p:cNvSpPr txBox="1">
            <a:spLocks noGrp="1"/>
          </p:cNvSpPr>
          <p:nvPr>
            <p:ph type="title"/>
          </p:nvPr>
        </p:nvSpPr>
        <p:spPr>
          <a:xfrm>
            <a:off x="322718" y="131952"/>
            <a:ext cx="10345200" cy="786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My Focus </a:t>
            </a:r>
            <a:endParaRPr/>
          </a:p>
        </p:txBody>
      </p:sp>
      <p:sp>
        <p:nvSpPr>
          <p:cNvPr id="84" name="Google Shape;84;g3728472e4b2_0_0"/>
          <p:cNvSpPr txBox="1">
            <a:spLocks noGrp="1"/>
          </p:cNvSpPr>
          <p:nvPr>
            <p:ph type="body" idx="1"/>
          </p:nvPr>
        </p:nvSpPr>
        <p:spPr>
          <a:xfrm>
            <a:off x="322729" y="1255059"/>
            <a:ext cx="11031000" cy="4921800"/>
          </a:xfrm>
          <a:prstGeom prst="rect">
            <a:avLst/>
          </a:prstGeom>
        </p:spPr>
        <p:txBody>
          <a:bodyPr spcFirstLastPara="1" wrap="square" lIns="91425" tIns="45700" rIns="91425" bIns="45700" anchor="t" anchorCtr="0">
            <a:normAutofit/>
          </a:bodyPr>
          <a:lstStyle/>
          <a:p>
            <a:pPr marL="457200" lvl="0" indent="-368300" algn="l" rtl="0">
              <a:lnSpc>
                <a:spcPct val="115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Investigated M50 steel microstructure at:</a:t>
            </a:r>
            <a:endParaRPr sz="2200">
              <a:solidFill>
                <a:schemeClr val="dk1"/>
              </a:solidFill>
              <a:latin typeface="Arial"/>
              <a:ea typeface="Arial"/>
              <a:cs typeface="Arial"/>
              <a:sym typeface="Aria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latin typeface="Arial"/>
                <a:ea typeface="Arial"/>
                <a:cs typeface="Arial"/>
                <a:sym typeface="Arial"/>
              </a:rPr>
              <a:t>900°C</a:t>
            </a:r>
            <a:endParaRPr sz="2200" b="1">
              <a:solidFill>
                <a:schemeClr val="dk1"/>
              </a:solidFill>
              <a:latin typeface="Arial"/>
              <a:ea typeface="Arial"/>
              <a:cs typeface="Arial"/>
              <a:sym typeface="Aria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latin typeface="Arial"/>
                <a:ea typeface="Arial"/>
                <a:cs typeface="Arial"/>
                <a:sym typeface="Arial"/>
              </a:rPr>
              <a:t>1000°C</a:t>
            </a:r>
            <a:endParaRPr sz="2200" b="1">
              <a:solidFill>
                <a:schemeClr val="dk1"/>
              </a:solidFill>
              <a:latin typeface="Arial"/>
              <a:ea typeface="Arial"/>
              <a:cs typeface="Arial"/>
              <a:sym typeface="Arial"/>
            </a:endParaRPr>
          </a:p>
          <a:p>
            <a:pPr marL="457200" lvl="0" indent="-368300" algn="l" rtl="0">
              <a:lnSpc>
                <a:spcPct val="115000"/>
              </a:lnSpc>
              <a:spcBef>
                <a:spcPts val="0"/>
              </a:spcBef>
              <a:spcAft>
                <a:spcPts val="0"/>
              </a:spcAft>
              <a:buClr>
                <a:schemeClr val="dk1"/>
              </a:buClr>
              <a:buSzPts val="2200"/>
              <a:buChar char="•"/>
            </a:pPr>
            <a:r>
              <a:rPr lang="en-US" sz="2200" b="1">
                <a:solidFill>
                  <a:schemeClr val="dk1"/>
                </a:solidFill>
                <a:latin typeface="Arial"/>
                <a:ea typeface="Arial"/>
                <a:cs typeface="Arial"/>
                <a:sym typeface="Arial"/>
              </a:rPr>
              <a:t>1100°C</a:t>
            </a:r>
            <a:endParaRPr sz="2200" b="1">
              <a:solidFill>
                <a:schemeClr val="dk1"/>
              </a:solidFill>
              <a:latin typeface="Arial"/>
              <a:ea typeface="Arial"/>
              <a:cs typeface="Arial"/>
              <a:sym typeface="Arial"/>
            </a:endParaRPr>
          </a:p>
          <a:p>
            <a:pPr marL="457200" lvl="0" indent="-368300" algn="l" rtl="0">
              <a:lnSpc>
                <a:spcPct val="115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Observed thermal effects on grain structure</a:t>
            </a:r>
            <a:endParaRPr sz="2200">
              <a:solidFill>
                <a:schemeClr val="dk1"/>
              </a:solidFill>
              <a:latin typeface="Arial"/>
              <a:ea typeface="Arial"/>
              <a:cs typeface="Arial"/>
              <a:sym typeface="Arial"/>
            </a:endParaRPr>
          </a:p>
          <a:p>
            <a:pPr marL="457200" lvl="0" indent="-368300" algn="l" rtl="0">
              <a:lnSpc>
                <a:spcPct val="115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Analyzed microstructural differences between temperatures</a:t>
            </a:r>
            <a:endParaRPr sz="2200">
              <a:solidFill>
                <a:schemeClr val="dk1"/>
              </a:solidFill>
              <a:latin typeface="Arial"/>
              <a:ea typeface="Arial"/>
              <a:cs typeface="Arial"/>
              <a:sym typeface="Arial"/>
            </a:endParaRPr>
          </a:p>
          <a:p>
            <a:pPr marL="457200" lvl="0" indent="0" algn="l" rtl="0">
              <a:lnSpc>
                <a:spcPct val="98181"/>
              </a:lnSpc>
              <a:spcBef>
                <a:spcPts val="0"/>
              </a:spcBef>
              <a:spcAft>
                <a:spcPts val="0"/>
              </a:spcAft>
              <a:buNone/>
            </a:pPr>
            <a:endParaRPr sz="2200">
              <a:solidFill>
                <a:schemeClr val="dk1"/>
              </a:solidFill>
              <a:latin typeface="Arial"/>
              <a:ea typeface="Arial"/>
              <a:cs typeface="Arial"/>
              <a:sym typeface="Arial"/>
            </a:endParaRPr>
          </a:p>
          <a:p>
            <a:pPr marL="0" lvl="0" indent="0" algn="l" rtl="0">
              <a:spcBef>
                <a:spcPts val="1000"/>
              </a:spcBef>
              <a:spcAft>
                <a:spcPts val="0"/>
              </a:spcAft>
              <a:buNone/>
            </a:pPr>
            <a:endParaRPr/>
          </a:p>
        </p:txBody>
      </p:sp>
      <p:pic>
        <p:nvPicPr>
          <p:cNvPr id="85" name="Google Shape;85;g3728472e4b2_0_0" title="IMG_0874.JPG"/>
          <p:cNvPicPr preferRelativeResize="0"/>
          <p:nvPr/>
        </p:nvPicPr>
        <p:blipFill rotWithShape="1">
          <a:blip r:embed="rId3">
            <a:alphaModFix/>
          </a:blip>
          <a:srcRect r="16562"/>
          <a:stretch/>
        </p:blipFill>
        <p:spPr>
          <a:xfrm rot="-5400000">
            <a:off x="7173274" y="3926989"/>
            <a:ext cx="2512625" cy="1987123"/>
          </a:xfrm>
          <a:prstGeom prst="rect">
            <a:avLst/>
          </a:prstGeom>
          <a:noFill/>
          <a:ln>
            <a:noFill/>
          </a:ln>
        </p:spPr>
      </p:pic>
      <p:pic>
        <p:nvPicPr>
          <p:cNvPr id="86" name="Google Shape;86;g3728472e4b2_0_0" title="IMG_0884.JPG"/>
          <p:cNvPicPr preferRelativeResize="0"/>
          <p:nvPr/>
        </p:nvPicPr>
        <p:blipFill rotWithShape="1">
          <a:blip r:embed="rId4">
            <a:alphaModFix/>
          </a:blip>
          <a:srcRect t="17979" b="21115"/>
          <a:stretch/>
        </p:blipFill>
        <p:spPr>
          <a:xfrm>
            <a:off x="3213775" y="4260800"/>
            <a:ext cx="4106051" cy="1875475"/>
          </a:xfrm>
          <a:prstGeom prst="rect">
            <a:avLst/>
          </a:prstGeom>
          <a:noFill/>
          <a:ln>
            <a:noFill/>
          </a:ln>
        </p:spPr>
      </p:pic>
      <p:pic>
        <p:nvPicPr>
          <p:cNvPr id="87" name="Google Shape;87;g3728472e4b2_0_0" title="IMG_0772.JPG"/>
          <p:cNvPicPr preferRelativeResize="0"/>
          <p:nvPr/>
        </p:nvPicPr>
        <p:blipFill rotWithShape="1">
          <a:blip r:embed="rId5">
            <a:alphaModFix/>
          </a:blip>
          <a:srcRect r="7364" b="5132"/>
          <a:stretch/>
        </p:blipFill>
        <p:spPr>
          <a:xfrm rot="-5400000">
            <a:off x="770874" y="3986773"/>
            <a:ext cx="2431452" cy="1867549"/>
          </a:xfrm>
          <a:prstGeom prst="rect">
            <a:avLst/>
          </a:prstGeom>
          <a:noFill/>
          <a:ln>
            <a:noFill/>
          </a:ln>
        </p:spPr>
      </p:pic>
      <p:sp>
        <p:nvSpPr>
          <p:cNvPr id="88" name="Google Shape;88;g3728472e4b2_0_0"/>
          <p:cNvSpPr txBox="1"/>
          <p:nvPr/>
        </p:nvSpPr>
        <p:spPr>
          <a:xfrm>
            <a:off x="964213" y="6176850"/>
            <a:ext cx="2423100" cy="3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Sample log &amp; Temperature records </a:t>
            </a:r>
            <a:endParaRPr sz="1000">
              <a:solidFill>
                <a:schemeClr val="dk1"/>
              </a:solidFill>
              <a:latin typeface="Calibri"/>
              <a:ea typeface="Calibri"/>
              <a:cs typeface="Calibri"/>
              <a:sym typeface="Calibri"/>
            </a:endParaRPr>
          </a:p>
        </p:txBody>
      </p:sp>
      <p:sp>
        <p:nvSpPr>
          <p:cNvPr id="89" name="Google Shape;89;g3728472e4b2_0_0"/>
          <p:cNvSpPr txBox="1"/>
          <p:nvPr/>
        </p:nvSpPr>
        <p:spPr>
          <a:xfrm>
            <a:off x="3250874" y="6176850"/>
            <a:ext cx="4068900" cy="3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                                4 metal samples heat treated &amp; labeled</a:t>
            </a:r>
            <a:endParaRPr sz="1000">
              <a:solidFill>
                <a:schemeClr val="dk1"/>
              </a:solidFill>
              <a:latin typeface="Calibri"/>
              <a:ea typeface="Calibri"/>
              <a:cs typeface="Calibri"/>
              <a:sym typeface="Calibri"/>
            </a:endParaRPr>
          </a:p>
        </p:txBody>
      </p:sp>
      <p:sp>
        <p:nvSpPr>
          <p:cNvPr id="90" name="Google Shape;90;g3728472e4b2_0_0"/>
          <p:cNvSpPr txBox="1"/>
          <p:nvPr/>
        </p:nvSpPr>
        <p:spPr>
          <a:xfrm>
            <a:off x="7436025" y="6214500"/>
            <a:ext cx="1938300" cy="26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Sample placed inside new furnace </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3728472e4b2_0_7"/>
          <p:cNvSpPr txBox="1">
            <a:spLocks noGrp="1"/>
          </p:cNvSpPr>
          <p:nvPr>
            <p:ph type="title"/>
          </p:nvPr>
        </p:nvSpPr>
        <p:spPr>
          <a:xfrm>
            <a:off x="322718" y="99102"/>
            <a:ext cx="10345200" cy="786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Key Techniques I learned </a:t>
            </a:r>
            <a:endParaRPr/>
          </a:p>
        </p:txBody>
      </p:sp>
      <p:sp>
        <p:nvSpPr>
          <p:cNvPr id="97" name="Google Shape;97;g3728472e4b2_0_7"/>
          <p:cNvSpPr txBox="1">
            <a:spLocks noGrp="1"/>
          </p:cNvSpPr>
          <p:nvPr>
            <p:ph type="body" idx="1"/>
          </p:nvPr>
        </p:nvSpPr>
        <p:spPr>
          <a:xfrm>
            <a:off x="322729" y="1255059"/>
            <a:ext cx="11031000" cy="49218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r>
              <a:rPr lang="en-US" sz="1800">
                <a:solidFill>
                  <a:schemeClr val="dk1"/>
                </a:solidFill>
                <a:latin typeface="Arial"/>
                <a:ea typeface="Arial"/>
                <a:cs typeface="Arial"/>
                <a:sym typeface="Arial"/>
              </a:rPr>
              <a:t>Grinding &amp; polishing metal samples</a:t>
            </a:r>
            <a:endParaRPr sz="1800">
              <a:solidFill>
                <a:schemeClr val="dk1"/>
              </a:solidFill>
              <a:latin typeface="Arial"/>
              <a:ea typeface="Arial"/>
              <a:cs typeface="Arial"/>
              <a:sym typeface="Arial"/>
            </a:endParaRPr>
          </a:p>
          <a:p>
            <a:pPr marL="0" lvl="0" indent="0" algn="l" rtl="0">
              <a:lnSpc>
                <a:spcPct val="115000"/>
              </a:lnSpc>
              <a:spcBef>
                <a:spcPts val="0"/>
              </a:spcBef>
              <a:spcAft>
                <a:spcPts val="0"/>
              </a:spcAft>
              <a:buNone/>
            </a:pPr>
            <a:r>
              <a:rPr lang="en-US" sz="1800">
                <a:solidFill>
                  <a:schemeClr val="dk1"/>
                </a:solidFill>
                <a:latin typeface="Arial"/>
                <a:ea typeface="Arial"/>
                <a:cs typeface="Arial"/>
                <a:sym typeface="Arial"/>
              </a:rPr>
              <a:t>Mastered:</a:t>
            </a:r>
            <a:endParaRPr sz="1800">
              <a:solidFill>
                <a:schemeClr val="dk1"/>
              </a:solidFill>
              <a:latin typeface="Arial"/>
              <a:ea typeface="Arial"/>
              <a:cs typeface="Arial"/>
              <a:sym typeface="Arial"/>
            </a:endParaRPr>
          </a:p>
          <a:p>
            <a:pPr marL="457200" lvl="0" indent="-279400" algn="l" rtl="0">
              <a:lnSpc>
                <a:spcPct val="115000"/>
              </a:lnSpc>
              <a:spcBef>
                <a:spcPts val="1200"/>
              </a:spcBef>
              <a:spcAft>
                <a:spcPts val="0"/>
              </a:spcAft>
              <a:buClr>
                <a:schemeClr val="dk1"/>
              </a:buClr>
              <a:buSzPts val="800"/>
              <a:buChar char="●"/>
            </a:pPr>
            <a:r>
              <a:rPr lang="en-US" sz="1800">
                <a:solidFill>
                  <a:schemeClr val="dk1"/>
                </a:solidFill>
                <a:latin typeface="Arial"/>
                <a:ea typeface="Arial"/>
                <a:cs typeface="Arial"/>
                <a:sym typeface="Arial"/>
              </a:rPr>
              <a:t>Grit paper selection</a:t>
            </a:r>
            <a:endParaRPr sz="1800">
              <a:solidFill>
                <a:schemeClr val="dk1"/>
              </a:solidFill>
              <a:latin typeface="Arial"/>
              <a:ea typeface="Arial"/>
              <a:cs typeface="Arial"/>
              <a:sym typeface="Arial"/>
            </a:endParaRPr>
          </a:p>
          <a:p>
            <a:pPr marL="457200" lvl="0" indent="-279400" algn="l" rtl="0">
              <a:lnSpc>
                <a:spcPct val="115000"/>
              </a:lnSpc>
              <a:spcBef>
                <a:spcPts val="0"/>
              </a:spcBef>
              <a:spcAft>
                <a:spcPts val="0"/>
              </a:spcAft>
              <a:buClr>
                <a:schemeClr val="dk1"/>
              </a:buClr>
              <a:buSzPts val="800"/>
              <a:buChar char="●"/>
            </a:pPr>
            <a:r>
              <a:rPr lang="en-US" sz="1800">
                <a:solidFill>
                  <a:schemeClr val="dk1"/>
                </a:solidFill>
                <a:latin typeface="Arial"/>
                <a:ea typeface="Arial"/>
                <a:cs typeface="Arial"/>
                <a:sym typeface="Arial"/>
              </a:rPr>
              <a:t>Scratch detection</a:t>
            </a:r>
            <a:endParaRPr sz="1800">
              <a:solidFill>
                <a:schemeClr val="dk1"/>
              </a:solidFill>
              <a:latin typeface="Arial"/>
              <a:ea typeface="Arial"/>
              <a:cs typeface="Arial"/>
              <a:sym typeface="Arial"/>
            </a:endParaRPr>
          </a:p>
          <a:p>
            <a:pPr marL="457200" lvl="0" indent="-279400" algn="l" rtl="0">
              <a:lnSpc>
                <a:spcPct val="115000"/>
              </a:lnSpc>
              <a:spcBef>
                <a:spcPts val="0"/>
              </a:spcBef>
              <a:spcAft>
                <a:spcPts val="0"/>
              </a:spcAft>
              <a:buClr>
                <a:schemeClr val="dk1"/>
              </a:buClr>
              <a:buSzPts val="800"/>
              <a:buChar char="●"/>
            </a:pPr>
            <a:r>
              <a:rPr lang="en-US" sz="1800">
                <a:solidFill>
                  <a:schemeClr val="dk1"/>
                </a:solidFill>
                <a:latin typeface="Arial"/>
                <a:ea typeface="Arial"/>
                <a:cs typeface="Arial"/>
                <a:sym typeface="Arial"/>
              </a:rPr>
              <a:t>Consistent surface finish</a:t>
            </a:r>
            <a:endParaRPr sz="1800">
              <a:solidFill>
                <a:schemeClr val="dk1"/>
              </a:solidFill>
              <a:latin typeface="Arial"/>
              <a:ea typeface="Arial"/>
              <a:cs typeface="Arial"/>
              <a:sym typeface="Arial"/>
            </a:endParaRPr>
          </a:p>
          <a:p>
            <a:pPr marL="0" lvl="0" indent="0" algn="l" rtl="0">
              <a:lnSpc>
                <a:spcPct val="115000"/>
              </a:lnSpc>
              <a:spcBef>
                <a:spcPts val="1200"/>
              </a:spcBef>
              <a:spcAft>
                <a:spcPts val="0"/>
              </a:spcAft>
              <a:buNone/>
            </a:pPr>
            <a:r>
              <a:rPr lang="en-US" sz="1800">
                <a:solidFill>
                  <a:schemeClr val="dk1"/>
                </a:solidFill>
                <a:latin typeface="Arial"/>
                <a:ea typeface="Arial"/>
                <a:cs typeface="Arial"/>
                <a:sym typeface="Arial"/>
              </a:rPr>
              <a:t>Heat treating samples &amp; using lab safety tools</a:t>
            </a:r>
            <a:endParaRPr sz="1800">
              <a:solidFill>
                <a:schemeClr val="dk1"/>
              </a:solidFill>
              <a:latin typeface="Arial"/>
              <a:ea typeface="Arial"/>
              <a:cs typeface="Arial"/>
              <a:sym typeface="Arial"/>
            </a:endParaRPr>
          </a:p>
          <a:p>
            <a:pPr marL="0" lvl="0" indent="0" algn="l" rtl="0">
              <a:lnSpc>
                <a:spcPct val="115000"/>
              </a:lnSpc>
              <a:spcBef>
                <a:spcPts val="0"/>
              </a:spcBef>
              <a:spcAft>
                <a:spcPts val="0"/>
              </a:spcAft>
              <a:buNone/>
            </a:pPr>
            <a:r>
              <a:rPr lang="en-US" sz="1800">
                <a:solidFill>
                  <a:schemeClr val="dk1"/>
                </a:solidFill>
                <a:latin typeface="Arial"/>
                <a:ea typeface="Arial"/>
                <a:cs typeface="Arial"/>
                <a:sym typeface="Arial"/>
              </a:rPr>
              <a:t>Air quenching vs. oil quenching</a:t>
            </a:r>
            <a:endParaRPr sz="1800">
              <a:solidFill>
                <a:schemeClr val="dk1"/>
              </a:solidFill>
              <a:latin typeface="Arial"/>
              <a:ea typeface="Arial"/>
              <a:cs typeface="Arial"/>
              <a:sym typeface="Arial"/>
            </a:endParaRPr>
          </a:p>
          <a:p>
            <a:pPr marL="0" lvl="0" indent="0" algn="l" rtl="0">
              <a:spcBef>
                <a:spcPts val="1000"/>
              </a:spcBef>
              <a:spcAft>
                <a:spcPts val="0"/>
              </a:spcAft>
              <a:buNone/>
            </a:pPr>
            <a:r>
              <a:rPr lang="en-US" sz="1800">
                <a:solidFill>
                  <a:schemeClr val="dk1"/>
                </a:solidFill>
                <a:latin typeface="Arial"/>
                <a:ea typeface="Arial"/>
                <a:cs typeface="Arial"/>
                <a:sym typeface="Arial"/>
              </a:rPr>
              <a:t> </a:t>
            </a:r>
            <a:endParaRPr sz="2700"/>
          </a:p>
        </p:txBody>
      </p:sp>
      <p:sp>
        <p:nvSpPr>
          <p:cNvPr id="98" name="Google Shape;98;g3728472e4b2_0_7"/>
          <p:cNvSpPr txBox="1">
            <a:spLocks noGrp="1"/>
          </p:cNvSpPr>
          <p:nvPr>
            <p:ph type="sldNum" idx="12"/>
          </p:nvPr>
        </p:nvSpPr>
        <p:spPr>
          <a:xfrm>
            <a:off x="9299448" y="6391656"/>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pic>
        <p:nvPicPr>
          <p:cNvPr id="99" name="Google Shape;99;g3728472e4b2_0_7"/>
          <p:cNvPicPr preferRelativeResize="0"/>
          <p:nvPr/>
        </p:nvPicPr>
        <p:blipFill>
          <a:blip r:embed="rId3">
            <a:alphaModFix/>
          </a:blip>
          <a:stretch>
            <a:fillRect/>
          </a:stretch>
        </p:blipFill>
        <p:spPr>
          <a:xfrm>
            <a:off x="784525" y="4098450"/>
            <a:ext cx="2220800" cy="2076875"/>
          </a:xfrm>
          <a:prstGeom prst="rect">
            <a:avLst/>
          </a:prstGeom>
          <a:noFill/>
          <a:ln>
            <a:noFill/>
          </a:ln>
        </p:spPr>
      </p:pic>
      <p:pic>
        <p:nvPicPr>
          <p:cNvPr id="100" name="Google Shape;100;g3728472e4b2_0_7"/>
          <p:cNvPicPr preferRelativeResize="0"/>
          <p:nvPr/>
        </p:nvPicPr>
        <p:blipFill>
          <a:blip r:embed="rId4">
            <a:alphaModFix/>
          </a:blip>
          <a:stretch>
            <a:fillRect/>
          </a:stretch>
        </p:blipFill>
        <p:spPr>
          <a:xfrm>
            <a:off x="9009750" y="4030425"/>
            <a:ext cx="2402098" cy="2076875"/>
          </a:xfrm>
          <a:prstGeom prst="rect">
            <a:avLst/>
          </a:prstGeom>
          <a:noFill/>
          <a:ln>
            <a:noFill/>
          </a:ln>
        </p:spPr>
      </p:pic>
      <p:pic>
        <p:nvPicPr>
          <p:cNvPr id="101" name="Google Shape;101;g3728472e4b2_0_7"/>
          <p:cNvPicPr preferRelativeResize="0"/>
          <p:nvPr/>
        </p:nvPicPr>
        <p:blipFill rotWithShape="1">
          <a:blip r:embed="rId5">
            <a:alphaModFix/>
          </a:blip>
          <a:srcRect t="10754"/>
          <a:stretch/>
        </p:blipFill>
        <p:spPr>
          <a:xfrm>
            <a:off x="6248513" y="4030425"/>
            <a:ext cx="2176862" cy="2076875"/>
          </a:xfrm>
          <a:prstGeom prst="rect">
            <a:avLst/>
          </a:prstGeom>
          <a:noFill/>
          <a:ln>
            <a:noFill/>
          </a:ln>
        </p:spPr>
      </p:pic>
      <p:pic>
        <p:nvPicPr>
          <p:cNvPr id="102" name="Google Shape;102;g3728472e4b2_0_7"/>
          <p:cNvPicPr preferRelativeResize="0"/>
          <p:nvPr/>
        </p:nvPicPr>
        <p:blipFill>
          <a:blip r:embed="rId6">
            <a:alphaModFix/>
          </a:blip>
          <a:stretch>
            <a:fillRect/>
          </a:stretch>
        </p:blipFill>
        <p:spPr>
          <a:xfrm>
            <a:off x="3463425" y="4166478"/>
            <a:ext cx="2200706" cy="1940825"/>
          </a:xfrm>
          <a:prstGeom prst="rect">
            <a:avLst/>
          </a:prstGeom>
          <a:noFill/>
          <a:ln>
            <a:noFill/>
          </a:ln>
        </p:spPr>
      </p:pic>
      <p:sp>
        <p:nvSpPr>
          <p:cNvPr id="103" name="Google Shape;103;g3728472e4b2_0_7"/>
          <p:cNvSpPr txBox="1"/>
          <p:nvPr/>
        </p:nvSpPr>
        <p:spPr>
          <a:xfrm>
            <a:off x="881500" y="6175325"/>
            <a:ext cx="2337000" cy="21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Grinding/Polishing wheel I used </a:t>
            </a:r>
            <a:endParaRPr sz="1000">
              <a:solidFill>
                <a:schemeClr val="dk1"/>
              </a:solidFill>
              <a:latin typeface="Calibri"/>
              <a:ea typeface="Calibri"/>
              <a:cs typeface="Calibri"/>
              <a:sym typeface="Calibri"/>
            </a:endParaRPr>
          </a:p>
        </p:txBody>
      </p:sp>
      <p:sp>
        <p:nvSpPr>
          <p:cNvPr id="104" name="Google Shape;104;g3728472e4b2_0_7"/>
          <p:cNvSpPr txBox="1"/>
          <p:nvPr/>
        </p:nvSpPr>
        <p:spPr>
          <a:xfrm>
            <a:off x="3453325" y="6149300"/>
            <a:ext cx="2220900" cy="12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Various Grit sizes available for grinding</a:t>
            </a:r>
            <a:endParaRPr sz="1000">
              <a:solidFill>
                <a:schemeClr val="dk1"/>
              </a:solidFill>
              <a:latin typeface="Calibri"/>
              <a:ea typeface="Calibri"/>
              <a:cs typeface="Calibri"/>
              <a:sym typeface="Calibri"/>
            </a:endParaRPr>
          </a:p>
        </p:txBody>
      </p:sp>
      <p:sp>
        <p:nvSpPr>
          <p:cNvPr id="105" name="Google Shape;105;g3728472e4b2_0_7"/>
          <p:cNvSpPr txBox="1"/>
          <p:nvPr/>
        </p:nvSpPr>
        <p:spPr>
          <a:xfrm>
            <a:off x="6248525" y="6149300"/>
            <a:ext cx="2492100" cy="12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           Various Polishing wheels </a:t>
            </a:r>
            <a:endParaRPr sz="1000">
              <a:solidFill>
                <a:schemeClr val="dk1"/>
              </a:solidFill>
              <a:latin typeface="Calibri"/>
              <a:ea typeface="Calibri"/>
              <a:cs typeface="Calibri"/>
              <a:sym typeface="Calibri"/>
            </a:endParaRPr>
          </a:p>
        </p:txBody>
      </p:sp>
      <p:sp>
        <p:nvSpPr>
          <p:cNvPr id="106" name="Google Shape;106;g3728472e4b2_0_7"/>
          <p:cNvSpPr txBox="1"/>
          <p:nvPr/>
        </p:nvSpPr>
        <p:spPr>
          <a:xfrm>
            <a:off x="9009750" y="6149300"/>
            <a:ext cx="2402100" cy="12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Safety tools required for heat treatment </a:t>
            </a:r>
            <a:endParaRPr sz="1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3728472e4b2_0_14"/>
          <p:cNvSpPr txBox="1">
            <a:spLocks noGrp="1"/>
          </p:cNvSpPr>
          <p:nvPr>
            <p:ph type="title"/>
          </p:nvPr>
        </p:nvSpPr>
        <p:spPr>
          <a:xfrm>
            <a:off x="322718" y="82677"/>
            <a:ext cx="10345200" cy="7869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Heat Treating </a:t>
            </a:r>
            <a:endParaRPr/>
          </a:p>
        </p:txBody>
      </p:sp>
      <p:sp>
        <p:nvSpPr>
          <p:cNvPr id="113" name="Google Shape;113;g3728472e4b2_0_14"/>
          <p:cNvSpPr txBox="1">
            <a:spLocks noGrp="1"/>
          </p:cNvSpPr>
          <p:nvPr>
            <p:ph type="body" idx="1"/>
          </p:nvPr>
        </p:nvSpPr>
        <p:spPr>
          <a:xfrm>
            <a:off x="262029" y="1169721"/>
            <a:ext cx="11031000" cy="4921800"/>
          </a:xfrm>
          <a:prstGeom prst="rect">
            <a:avLst/>
          </a:prstGeom>
        </p:spPr>
        <p:txBody>
          <a:bodyPr spcFirstLastPara="1" wrap="square" lIns="91425" tIns="45700" rIns="91425" bIns="45700" anchor="t" anchorCtr="0">
            <a:normAutofit/>
          </a:bodyPr>
          <a:lstStyle/>
          <a:p>
            <a:pPr marL="0" lvl="0" indent="0" algn="l" rtl="0">
              <a:lnSpc>
                <a:spcPct val="98181"/>
              </a:lnSpc>
              <a:spcBef>
                <a:spcPts val="1000"/>
              </a:spcBef>
              <a:spcAft>
                <a:spcPts val="0"/>
              </a:spcAft>
              <a:buClr>
                <a:schemeClr val="dk1"/>
              </a:buClr>
              <a:buSzPts val="1100"/>
              <a:buFont typeface="Arial"/>
              <a:buNone/>
            </a:pPr>
            <a:r>
              <a:rPr lang="en-US" sz="1900" dirty="0">
                <a:solidFill>
                  <a:schemeClr val="dk1"/>
                </a:solidFill>
                <a:latin typeface="Arial"/>
                <a:ea typeface="Arial"/>
                <a:cs typeface="Arial"/>
                <a:sym typeface="Arial"/>
              </a:rPr>
              <a:t>•Heat treated at: 900°C, 1000°C, 1100°C</a:t>
            </a:r>
            <a:endParaRPr sz="19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US" sz="1900" dirty="0">
                <a:solidFill>
                  <a:schemeClr val="dk1"/>
                </a:solidFill>
                <a:latin typeface="Arial"/>
                <a:ea typeface="Arial"/>
                <a:cs typeface="Arial"/>
                <a:sym typeface="Arial"/>
              </a:rPr>
              <a:t>Switched from oil quenching to air quenching</a:t>
            </a:r>
          </a:p>
          <a:p>
            <a:pPr marL="0" lvl="0" indent="0" algn="l" rtl="0">
              <a:lnSpc>
                <a:spcPct val="115000"/>
              </a:lnSpc>
              <a:spcBef>
                <a:spcPts val="0"/>
              </a:spcBef>
              <a:spcAft>
                <a:spcPts val="0"/>
              </a:spcAft>
              <a:buClr>
                <a:schemeClr val="dk1"/>
              </a:buClr>
              <a:buSzPts val="1100"/>
              <a:buFont typeface="Arial"/>
              <a:buNone/>
            </a:pPr>
            <a:r>
              <a:rPr lang="en-US" sz="1900" dirty="0">
                <a:solidFill>
                  <a:schemeClr val="dk1"/>
                </a:solidFill>
                <a:latin typeface="Arial"/>
                <a:ea typeface="Arial"/>
                <a:cs typeface="Arial"/>
                <a:sym typeface="Arial"/>
              </a:rPr>
              <a:t>Oil quenching caused cracks (rapid cooling)</a:t>
            </a:r>
            <a:endParaRPr sz="1900" dirty="0">
              <a:solidFill>
                <a:schemeClr val="dk1"/>
              </a:solidFill>
              <a:latin typeface="Arial"/>
              <a:ea typeface="Arial"/>
              <a:cs typeface="Arial"/>
              <a:sym typeface="Arial"/>
            </a:endParaRPr>
          </a:p>
          <a:p>
            <a:pPr marL="457200" lvl="0" indent="-317500" algn="l" rtl="0">
              <a:lnSpc>
                <a:spcPct val="115000"/>
              </a:lnSpc>
              <a:spcBef>
                <a:spcPts val="0"/>
              </a:spcBef>
              <a:spcAft>
                <a:spcPts val="0"/>
              </a:spcAft>
              <a:buClr>
                <a:schemeClr val="dk1"/>
              </a:buClr>
              <a:buSzPts val="1400"/>
              <a:buChar char="●"/>
            </a:pPr>
            <a:r>
              <a:rPr lang="en-US" sz="1900" dirty="0">
                <a:solidFill>
                  <a:schemeClr val="dk1"/>
                </a:solidFill>
                <a:latin typeface="Arial"/>
                <a:ea typeface="Arial"/>
                <a:cs typeface="Arial"/>
                <a:sym typeface="Arial"/>
              </a:rPr>
              <a:t>Air quenching reduced cracking risk</a:t>
            </a:r>
            <a:endParaRPr sz="1900" dirty="0">
              <a:solidFill>
                <a:schemeClr val="dk1"/>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900" dirty="0">
                <a:solidFill>
                  <a:schemeClr val="dk1"/>
                </a:solidFill>
                <a:latin typeface="Arial"/>
                <a:ea typeface="Arial"/>
                <a:cs typeface="Arial"/>
                <a:sym typeface="Arial"/>
              </a:rPr>
              <a:t>Noticed blue oxide layer at 600°C tempering (surface oxidation)</a:t>
            </a:r>
            <a:endParaRPr sz="1900" dirty="0">
              <a:solidFill>
                <a:schemeClr val="dk1"/>
              </a:solidFill>
              <a:latin typeface="Arial"/>
              <a:ea typeface="Arial"/>
              <a:cs typeface="Arial"/>
              <a:sym typeface="Arial"/>
            </a:endParaRPr>
          </a:p>
          <a:p>
            <a:pPr marL="0" lvl="0" indent="0" algn="l" rtl="0">
              <a:spcBef>
                <a:spcPts val="1000"/>
              </a:spcBef>
              <a:spcAft>
                <a:spcPts val="0"/>
              </a:spcAft>
              <a:buNone/>
            </a:pPr>
            <a:endParaRPr dirty="0"/>
          </a:p>
        </p:txBody>
      </p:sp>
      <p:pic>
        <p:nvPicPr>
          <p:cNvPr id="114" name="Google Shape;114;g3728472e4b2_0_14"/>
          <p:cNvPicPr preferRelativeResize="0"/>
          <p:nvPr/>
        </p:nvPicPr>
        <p:blipFill>
          <a:blip r:embed="rId3">
            <a:alphaModFix/>
          </a:blip>
          <a:stretch>
            <a:fillRect/>
          </a:stretch>
        </p:blipFill>
        <p:spPr>
          <a:xfrm>
            <a:off x="5376825" y="3507075"/>
            <a:ext cx="2684700" cy="2263300"/>
          </a:xfrm>
          <a:prstGeom prst="rect">
            <a:avLst/>
          </a:prstGeom>
          <a:noFill/>
          <a:ln>
            <a:noFill/>
          </a:ln>
        </p:spPr>
      </p:pic>
      <p:pic>
        <p:nvPicPr>
          <p:cNvPr id="115" name="Google Shape;115;g3728472e4b2_0_14"/>
          <p:cNvPicPr preferRelativeResize="0"/>
          <p:nvPr/>
        </p:nvPicPr>
        <p:blipFill rotWithShape="1">
          <a:blip r:embed="rId4">
            <a:alphaModFix/>
          </a:blip>
          <a:srcRect t="-3605"/>
          <a:stretch/>
        </p:blipFill>
        <p:spPr>
          <a:xfrm>
            <a:off x="8538538" y="3424225"/>
            <a:ext cx="2120275" cy="2381225"/>
          </a:xfrm>
          <a:prstGeom prst="rect">
            <a:avLst/>
          </a:prstGeom>
          <a:noFill/>
          <a:ln>
            <a:noFill/>
          </a:ln>
        </p:spPr>
      </p:pic>
      <p:pic>
        <p:nvPicPr>
          <p:cNvPr id="116" name="Google Shape;116;g3728472e4b2_0_14"/>
          <p:cNvPicPr preferRelativeResize="0"/>
          <p:nvPr/>
        </p:nvPicPr>
        <p:blipFill>
          <a:blip r:embed="rId5">
            <a:alphaModFix/>
          </a:blip>
          <a:stretch>
            <a:fillRect/>
          </a:stretch>
        </p:blipFill>
        <p:spPr>
          <a:xfrm>
            <a:off x="322725" y="3542175"/>
            <a:ext cx="1983750" cy="2145325"/>
          </a:xfrm>
          <a:prstGeom prst="rect">
            <a:avLst/>
          </a:prstGeom>
          <a:noFill/>
          <a:ln>
            <a:noFill/>
          </a:ln>
        </p:spPr>
      </p:pic>
      <p:pic>
        <p:nvPicPr>
          <p:cNvPr id="117" name="Google Shape;117;g3728472e4b2_0_14"/>
          <p:cNvPicPr preferRelativeResize="0"/>
          <p:nvPr/>
        </p:nvPicPr>
        <p:blipFill>
          <a:blip r:embed="rId6">
            <a:alphaModFix/>
          </a:blip>
          <a:stretch>
            <a:fillRect/>
          </a:stretch>
        </p:blipFill>
        <p:spPr>
          <a:xfrm>
            <a:off x="2636750" y="3507079"/>
            <a:ext cx="2263062" cy="2215522"/>
          </a:xfrm>
          <a:prstGeom prst="rect">
            <a:avLst/>
          </a:prstGeom>
          <a:noFill/>
          <a:ln>
            <a:noFill/>
          </a:ln>
        </p:spPr>
      </p:pic>
      <p:sp>
        <p:nvSpPr>
          <p:cNvPr id="118" name="Google Shape;118;g3728472e4b2_0_14"/>
          <p:cNvSpPr txBox="1"/>
          <p:nvPr/>
        </p:nvSpPr>
        <p:spPr>
          <a:xfrm>
            <a:off x="119450" y="5722600"/>
            <a:ext cx="2517300" cy="3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Rules I made to safely turn on the furnace </a:t>
            </a:r>
            <a:endParaRPr sz="1000">
              <a:solidFill>
                <a:schemeClr val="dk1"/>
              </a:solidFill>
              <a:latin typeface="Calibri"/>
              <a:ea typeface="Calibri"/>
              <a:cs typeface="Calibri"/>
              <a:sym typeface="Calibri"/>
            </a:endParaRPr>
          </a:p>
        </p:txBody>
      </p:sp>
      <p:sp>
        <p:nvSpPr>
          <p:cNvPr id="119" name="Google Shape;119;g3728472e4b2_0_14"/>
          <p:cNvSpPr txBox="1"/>
          <p:nvPr/>
        </p:nvSpPr>
        <p:spPr>
          <a:xfrm>
            <a:off x="2571313" y="5722600"/>
            <a:ext cx="2743200" cy="23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Heat treating 4 samples at 1100℃ in Furnace </a:t>
            </a:r>
            <a:endParaRPr sz="1000">
              <a:solidFill>
                <a:schemeClr val="dk1"/>
              </a:solidFill>
              <a:latin typeface="Calibri"/>
              <a:ea typeface="Calibri"/>
              <a:cs typeface="Calibri"/>
              <a:sym typeface="Calibri"/>
            </a:endParaRPr>
          </a:p>
        </p:txBody>
      </p:sp>
      <p:sp>
        <p:nvSpPr>
          <p:cNvPr id="120" name="Google Shape;120;g3728472e4b2_0_14"/>
          <p:cNvSpPr txBox="1"/>
          <p:nvPr/>
        </p:nvSpPr>
        <p:spPr>
          <a:xfrm>
            <a:off x="5598826" y="5770375"/>
            <a:ext cx="2639400" cy="3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Air quenching process using a fan </a:t>
            </a:r>
            <a:endParaRPr sz="1000">
              <a:solidFill>
                <a:schemeClr val="dk1"/>
              </a:solidFill>
              <a:latin typeface="Calibri"/>
              <a:ea typeface="Calibri"/>
              <a:cs typeface="Calibri"/>
              <a:sym typeface="Calibri"/>
            </a:endParaRPr>
          </a:p>
        </p:txBody>
      </p:sp>
      <p:sp>
        <p:nvSpPr>
          <p:cNvPr id="121" name="Google Shape;121;g3728472e4b2_0_14"/>
          <p:cNvSpPr txBox="1"/>
          <p:nvPr/>
        </p:nvSpPr>
        <p:spPr>
          <a:xfrm>
            <a:off x="8456075" y="5770375"/>
            <a:ext cx="2517300" cy="3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Carving heat treated sample with blue tint</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3728472e4b2_0_21"/>
          <p:cNvSpPr txBox="1">
            <a:spLocks noGrp="1"/>
          </p:cNvSpPr>
          <p:nvPr>
            <p:ph type="title"/>
          </p:nvPr>
        </p:nvSpPr>
        <p:spPr>
          <a:xfrm>
            <a:off x="76375" y="105550"/>
            <a:ext cx="10588800" cy="786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SzPts val="990"/>
              <a:buNone/>
            </a:pPr>
            <a:r>
              <a:rPr lang="en-US" sz="3160"/>
              <a:t>Why We Chose Air Quenching Over Oil Quenching</a:t>
            </a:r>
            <a:endParaRPr sz="1900"/>
          </a:p>
        </p:txBody>
      </p:sp>
      <p:sp>
        <p:nvSpPr>
          <p:cNvPr id="128" name="Google Shape;128;g3728472e4b2_0_21"/>
          <p:cNvSpPr txBox="1">
            <a:spLocks noGrp="1"/>
          </p:cNvSpPr>
          <p:nvPr>
            <p:ph type="body" idx="1"/>
          </p:nvPr>
        </p:nvSpPr>
        <p:spPr>
          <a:xfrm>
            <a:off x="322729" y="1255059"/>
            <a:ext cx="11031000" cy="4921800"/>
          </a:xfrm>
          <a:prstGeom prst="rect">
            <a:avLst/>
          </a:prstGeom>
        </p:spPr>
        <p:txBody>
          <a:bodyPr spcFirstLastPara="1" wrap="square" lIns="91425" tIns="45700" rIns="91425" bIns="45700" anchor="t" anchorCtr="0">
            <a:normAutofit/>
          </a:bodyPr>
          <a:lstStyle/>
          <a:p>
            <a:pPr marL="0" lvl="0" indent="0" algn="l" rtl="0">
              <a:lnSpc>
                <a:spcPct val="98181"/>
              </a:lnSpc>
              <a:spcBef>
                <a:spcPts val="1000"/>
              </a:spcBef>
              <a:spcAft>
                <a:spcPts val="0"/>
              </a:spcAft>
              <a:buClr>
                <a:schemeClr val="dk1"/>
              </a:buClr>
              <a:buSzPts val="1100"/>
              <a:buFont typeface="Arial"/>
              <a:buNone/>
            </a:pPr>
            <a:r>
              <a:rPr lang="en-US" sz="2300" dirty="0">
                <a:solidFill>
                  <a:schemeClr val="dk1"/>
                </a:solidFill>
                <a:latin typeface="Arial"/>
                <a:ea typeface="Arial"/>
                <a:cs typeface="Arial"/>
                <a:sym typeface="Arial"/>
              </a:rPr>
              <a:t>•</a:t>
            </a:r>
            <a:r>
              <a:rPr lang="en-US" sz="2600" dirty="0">
                <a:solidFill>
                  <a:schemeClr val="dk1"/>
                </a:solidFill>
                <a:latin typeface="Arial"/>
                <a:ea typeface="Arial"/>
                <a:cs typeface="Arial"/>
                <a:sym typeface="Arial"/>
              </a:rPr>
              <a:t>Oil quench (1100°C, 60 mins) caused cracks</a:t>
            </a:r>
            <a:endParaRPr sz="26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US" sz="2600" dirty="0">
                <a:solidFill>
                  <a:schemeClr val="dk1"/>
                </a:solidFill>
                <a:latin typeface="Arial"/>
                <a:ea typeface="Arial"/>
                <a:cs typeface="Arial"/>
                <a:sym typeface="Arial"/>
              </a:rPr>
              <a:t>Air quenching = slower cooling → fewer cracks</a:t>
            </a:r>
            <a:endParaRPr sz="26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US" sz="2600" dirty="0">
                <a:solidFill>
                  <a:schemeClr val="dk1"/>
                </a:solidFill>
                <a:latin typeface="Arial"/>
                <a:ea typeface="Arial"/>
                <a:cs typeface="Arial"/>
                <a:sym typeface="Arial"/>
              </a:rPr>
              <a:t>Found Austenite % was similar in both methods</a:t>
            </a:r>
            <a:endParaRPr sz="2600" dirty="0">
              <a:solidFill>
                <a:schemeClr val="dk1"/>
              </a:solidFill>
              <a:latin typeface="Arial"/>
              <a:ea typeface="Arial"/>
              <a:cs typeface="Arial"/>
              <a:sym typeface="Arial"/>
            </a:endParaRPr>
          </a:p>
          <a:p>
            <a:pPr marL="0" lvl="0" indent="0" algn="l" rtl="0">
              <a:spcBef>
                <a:spcPts val="1000"/>
              </a:spcBef>
              <a:spcAft>
                <a:spcPts val="0"/>
              </a:spcAft>
              <a:buNone/>
            </a:pPr>
            <a:endParaRPr dirty="0"/>
          </a:p>
        </p:txBody>
      </p:sp>
      <p:pic>
        <p:nvPicPr>
          <p:cNvPr id="129" name="Google Shape;129;g3728472e4b2_0_21"/>
          <p:cNvPicPr preferRelativeResize="0"/>
          <p:nvPr/>
        </p:nvPicPr>
        <p:blipFill rotWithShape="1">
          <a:blip r:embed="rId3">
            <a:alphaModFix/>
          </a:blip>
          <a:srcRect r="-1419" b="24732"/>
          <a:stretch/>
        </p:blipFill>
        <p:spPr>
          <a:xfrm>
            <a:off x="412675" y="3962400"/>
            <a:ext cx="2560400" cy="2004575"/>
          </a:xfrm>
          <a:prstGeom prst="rect">
            <a:avLst/>
          </a:prstGeom>
          <a:noFill/>
          <a:ln>
            <a:noFill/>
          </a:ln>
        </p:spPr>
      </p:pic>
      <p:pic>
        <p:nvPicPr>
          <p:cNvPr id="130" name="Google Shape;130;g3728472e4b2_0_21"/>
          <p:cNvPicPr preferRelativeResize="0"/>
          <p:nvPr/>
        </p:nvPicPr>
        <p:blipFill rotWithShape="1">
          <a:blip r:embed="rId4">
            <a:alphaModFix/>
          </a:blip>
          <a:srcRect l="2065" t="12193" r="6552" b="10532"/>
          <a:stretch/>
        </p:blipFill>
        <p:spPr>
          <a:xfrm>
            <a:off x="3123263" y="3912100"/>
            <a:ext cx="1936500" cy="2105187"/>
          </a:xfrm>
          <a:prstGeom prst="rect">
            <a:avLst/>
          </a:prstGeom>
          <a:noFill/>
          <a:ln>
            <a:noFill/>
          </a:ln>
        </p:spPr>
      </p:pic>
      <p:pic>
        <p:nvPicPr>
          <p:cNvPr id="131" name="Google Shape;131;g3728472e4b2_0_21"/>
          <p:cNvPicPr preferRelativeResize="0"/>
          <p:nvPr/>
        </p:nvPicPr>
        <p:blipFill>
          <a:blip r:embed="rId5">
            <a:alphaModFix/>
          </a:blip>
          <a:stretch>
            <a:fillRect/>
          </a:stretch>
        </p:blipFill>
        <p:spPr>
          <a:xfrm>
            <a:off x="5209949" y="3645120"/>
            <a:ext cx="1772100" cy="2372167"/>
          </a:xfrm>
          <a:prstGeom prst="rect">
            <a:avLst/>
          </a:prstGeom>
          <a:noFill/>
          <a:ln>
            <a:noFill/>
          </a:ln>
        </p:spPr>
      </p:pic>
      <p:pic>
        <p:nvPicPr>
          <p:cNvPr id="132" name="Google Shape;132;g3728472e4b2_0_21" title="IMG_0878.JPG"/>
          <p:cNvPicPr preferRelativeResize="0"/>
          <p:nvPr/>
        </p:nvPicPr>
        <p:blipFill>
          <a:blip r:embed="rId6">
            <a:alphaModFix/>
          </a:blip>
          <a:stretch>
            <a:fillRect/>
          </a:stretch>
        </p:blipFill>
        <p:spPr>
          <a:xfrm>
            <a:off x="7219050" y="3524912"/>
            <a:ext cx="3318774" cy="2489126"/>
          </a:xfrm>
          <a:prstGeom prst="rect">
            <a:avLst/>
          </a:prstGeom>
          <a:noFill/>
          <a:ln>
            <a:noFill/>
          </a:ln>
        </p:spPr>
      </p:pic>
      <p:cxnSp>
        <p:nvCxnSpPr>
          <p:cNvPr id="133" name="Google Shape;133;g3728472e4b2_0_21"/>
          <p:cNvCxnSpPr/>
          <p:nvPr/>
        </p:nvCxnSpPr>
        <p:spPr>
          <a:xfrm rot="10800000" flipH="1">
            <a:off x="1202300" y="4888400"/>
            <a:ext cx="570300" cy="701700"/>
          </a:xfrm>
          <a:prstGeom prst="straightConnector1">
            <a:avLst/>
          </a:prstGeom>
          <a:noFill/>
          <a:ln w="19050" cap="flat" cmpd="sng">
            <a:solidFill>
              <a:schemeClr val="accent4"/>
            </a:solidFill>
            <a:prstDash val="solid"/>
            <a:round/>
            <a:headEnd type="none" w="med" len="med"/>
            <a:tailEnd type="triangle" w="med" len="med"/>
          </a:ln>
        </p:spPr>
      </p:cxnSp>
      <p:sp>
        <p:nvSpPr>
          <p:cNvPr id="134" name="Google Shape;134;g3728472e4b2_0_21"/>
          <p:cNvSpPr txBox="1"/>
          <p:nvPr/>
        </p:nvSpPr>
        <p:spPr>
          <a:xfrm>
            <a:off x="458800" y="5966975"/>
            <a:ext cx="2514300" cy="3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Cracked sample caused by oil quenching at 900℃</a:t>
            </a:r>
            <a:endParaRPr sz="1000">
              <a:solidFill>
                <a:schemeClr val="dk1"/>
              </a:solidFill>
              <a:latin typeface="Calibri"/>
              <a:ea typeface="Calibri"/>
              <a:cs typeface="Calibri"/>
              <a:sym typeface="Calibri"/>
            </a:endParaRPr>
          </a:p>
        </p:txBody>
      </p:sp>
      <p:sp>
        <p:nvSpPr>
          <p:cNvPr id="135" name="Google Shape;135;g3728472e4b2_0_21"/>
          <p:cNvSpPr txBox="1"/>
          <p:nvPr/>
        </p:nvSpPr>
        <p:spPr>
          <a:xfrm>
            <a:off x="3205463" y="5966975"/>
            <a:ext cx="1772100" cy="3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Used for initial oil quenching </a:t>
            </a:r>
            <a:endParaRPr sz="1000">
              <a:solidFill>
                <a:schemeClr val="dk1"/>
              </a:solidFill>
              <a:latin typeface="Calibri"/>
              <a:ea typeface="Calibri"/>
              <a:cs typeface="Calibri"/>
              <a:sym typeface="Calibri"/>
            </a:endParaRPr>
          </a:p>
        </p:txBody>
      </p:sp>
      <p:sp>
        <p:nvSpPr>
          <p:cNvPr id="136" name="Google Shape;136;g3728472e4b2_0_21"/>
          <p:cNvSpPr txBox="1"/>
          <p:nvPr/>
        </p:nvSpPr>
        <p:spPr>
          <a:xfrm>
            <a:off x="5065475" y="5981500"/>
            <a:ext cx="22311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Quenching medium that caused cracks </a:t>
            </a:r>
            <a:endParaRPr sz="1000">
              <a:solidFill>
                <a:schemeClr val="dk1"/>
              </a:solidFill>
              <a:latin typeface="Calibri"/>
              <a:ea typeface="Calibri"/>
              <a:cs typeface="Calibri"/>
              <a:sym typeface="Calibri"/>
            </a:endParaRPr>
          </a:p>
        </p:txBody>
      </p:sp>
      <p:sp>
        <p:nvSpPr>
          <p:cNvPr id="137" name="Google Shape;137;g3728472e4b2_0_21"/>
          <p:cNvSpPr txBox="1"/>
          <p:nvPr/>
        </p:nvSpPr>
        <p:spPr>
          <a:xfrm>
            <a:off x="7214425" y="5981488"/>
            <a:ext cx="3366900" cy="13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Introduction of Fan setup– had slower &amp; safer cooling rate</a:t>
            </a:r>
            <a:endParaRPr sz="1000">
              <a:solidFill>
                <a:schemeClr val="dk1"/>
              </a:solidFill>
              <a:latin typeface="Calibri"/>
              <a:ea typeface="Calibri"/>
              <a:cs typeface="Calibri"/>
              <a:sym typeface="Calibri"/>
            </a:endParaRPr>
          </a:p>
        </p:txBody>
      </p:sp>
      <p:sp>
        <p:nvSpPr>
          <p:cNvPr id="138" name="Google Shape;138;g3728472e4b2_0_21"/>
          <p:cNvSpPr/>
          <p:nvPr/>
        </p:nvSpPr>
        <p:spPr>
          <a:xfrm>
            <a:off x="1639175" y="4673900"/>
            <a:ext cx="387600" cy="365100"/>
          </a:xfrm>
          <a:prstGeom prst="ellipse">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3728472e4b2_0_35"/>
          <p:cNvSpPr txBox="1">
            <a:spLocks noGrp="1"/>
          </p:cNvSpPr>
          <p:nvPr>
            <p:ph type="title"/>
          </p:nvPr>
        </p:nvSpPr>
        <p:spPr>
          <a:xfrm>
            <a:off x="322718" y="99077"/>
            <a:ext cx="10345200" cy="7869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sz="5400"/>
              <a:t>Data Analysis &amp; Results</a:t>
            </a:r>
            <a:r>
              <a:rPr lang="en-US" sz="5400" b="0">
                <a:solidFill>
                  <a:schemeClr val="dk1"/>
                </a:solidFill>
                <a:latin typeface="Arial"/>
                <a:ea typeface="Arial"/>
                <a:cs typeface="Arial"/>
                <a:sym typeface="Arial"/>
              </a:rPr>
              <a:t> </a:t>
            </a:r>
            <a:endParaRPr/>
          </a:p>
        </p:txBody>
      </p:sp>
      <p:sp>
        <p:nvSpPr>
          <p:cNvPr id="145" name="Google Shape;145;g3728472e4b2_0_35"/>
          <p:cNvSpPr txBox="1">
            <a:spLocks noGrp="1"/>
          </p:cNvSpPr>
          <p:nvPr>
            <p:ph type="body" idx="1"/>
          </p:nvPr>
        </p:nvSpPr>
        <p:spPr>
          <a:xfrm>
            <a:off x="322729" y="1255059"/>
            <a:ext cx="11031000" cy="49218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r>
              <a:rPr lang="en-US" sz="1900">
                <a:solidFill>
                  <a:schemeClr val="dk1"/>
                </a:solidFill>
                <a:latin typeface="Arial"/>
                <a:ea typeface="Arial"/>
                <a:cs typeface="Arial"/>
                <a:sym typeface="Arial"/>
              </a:rPr>
              <a:t>Learned about electropolishing (not performed myself)</a:t>
            </a:r>
            <a:endParaRPr sz="1900">
              <a:solidFill>
                <a:schemeClr val="dk1"/>
              </a:solidFill>
              <a:latin typeface="Arial"/>
              <a:ea typeface="Arial"/>
              <a:cs typeface="Arial"/>
              <a:sym typeface="Arial"/>
            </a:endParaRPr>
          </a:p>
          <a:p>
            <a:pPr marL="0" lvl="0" indent="0" algn="l" rtl="0">
              <a:lnSpc>
                <a:spcPct val="115000"/>
              </a:lnSpc>
              <a:spcBef>
                <a:spcPts val="0"/>
              </a:spcBef>
              <a:spcAft>
                <a:spcPts val="0"/>
              </a:spcAft>
              <a:buNone/>
            </a:pPr>
            <a:r>
              <a:rPr lang="en-US" sz="1900">
                <a:solidFill>
                  <a:schemeClr val="dk1"/>
                </a:solidFill>
                <a:latin typeface="Arial"/>
                <a:ea typeface="Arial"/>
                <a:cs typeface="Arial"/>
                <a:sym typeface="Arial"/>
              </a:rPr>
              <a:t>Purpose:</a:t>
            </a:r>
            <a:endParaRPr sz="1900">
              <a:solidFill>
                <a:schemeClr val="dk1"/>
              </a:solidFill>
              <a:latin typeface="Arial"/>
              <a:ea typeface="Arial"/>
              <a:cs typeface="Arial"/>
              <a:sym typeface="Arial"/>
            </a:endParaRPr>
          </a:p>
          <a:p>
            <a:pPr marL="457200" lvl="0" indent="-317500" algn="l" rtl="0">
              <a:lnSpc>
                <a:spcPct val="115000"/>
              </a:lnSpc>
              <a:spcBef>
                <a:spcPts val="1200"/>
              </a:spcBef>
              <a:spcAft>
                <a:spcPts val="0"/>
              </a:spcAft>
              <a:buClr>
                <a:schemeClr val="dk1"/>
              </a:buClr>
              <a:buSzPts val="1400"/>
              <a:buChar char="●"/>
            </a:pPr>
            <a:r>
              <a:rPr lang="en-US" sz="1900">
                <a:solidFill>
                  <a:schemeClr val="dk1"/>
                </a:solidFill>
                <a:latin typeface="Arial"/>
                <a:ea typeface="Arial"/>
                <a:cs typeface="Arial"/>
                <a:sym typeface="Arial"/>
              </a:rPr>
              <a:t>Smooth surface post-polishing</a:t>
            </a:r>
            <a:endParaRPr sz="1900">
              <a:solidFill>
                <a:schemeClr val="dk1"/>
              </a:solidFill>
              <a:latin typeface="Arial"/>
              <a:ea typeface="Arial"/>
              <a:cs typeface="Arial"/>
              <a:sym typeface="Arial"/>
            </a:endParaRPr>
          </a:p>
          <a:p>
            <a:pPr marL="457200" lvl="0" indent="-317500" algn="l" rtl="0">
              <a:lnSpc>
                <a:spcPct val="115000"/>
              </a:lnSpc>
              <a:spcBef>
                <a:spcPts val="0"/>
              </a:spcBef>
              <a:spcAft>
                <a:spcPts val="0"/>
              </a:spcAft>
              <a:buClr>
                <a:schemeClr val="dk1"/>
              </a:buClr>
              <a:buSzPts val="1400"/>
              <a:buChar char="●"/>
            </a:pPr>
            <a:r>
              <a:rPr lang="en-US" sz="1900">
                <a:solidFill>
                  <a:schemeClr val="dk1"/>
                </a:solidFill>
                <a:latin typeface="Arial"/>
                <a:ea typeface="Arial"/>
                <a:cs typeface="Arial"/>
                <a:sym typeface="Arial"/>
              </a:rPr>
              <a:t>Remove microscopic deformation</a:t>
            </a:r>
            <a:endParaRPr sz="1900">
              <a:solidFill>
                <a:schemeClr val="dk1"/>
              </a:solidFill>
              <a:latin typeface="Arial"/>
              <a:ea typeface="Arial"/>
              <a:cs typeface="Arial"/>
              <a:sym typeface="Arial"/>
            </a:endParaRPr>
          </a:p>
          <a:p>
            <a:pPr marL="457200" lvl="0" indent="-317500" algn="l" rtl="0">
              <a:lnSpc>
                <a:spcPct val="115000"/>
              </a:lnSpc>
              <a:spcBef>
                <a:spcPts val="0"/>
              </a:spcBef>
              <a:spcAft>
                <a:spcPts val="0"/>
              </a:spcAft>
              <a:buClr>
                <a:schemeClr val="dk1"/>
              </a:buClr>
              <a:buSzPts val="1400"/>
              <a:buChar char="●"/>
            </a:pPr>
            <a:r>
              <a:rPr lang="en-US" sz="1900">
                <a:solidFill>
                  <a:schemeClr val="dk1"/>
                </a:solidFill>
                <a:latin typeface="Arial"/>
                <a:ea typeface="Arial"/>
                <a:cs typeface="Arial"/>
                <a:sym typeface="Arial"/>
              </a:rPr>
              <a:t>Prep for accurate microscopy</a:t>
            </a:r>
            <a:endParaRPr sz="1900">
              <a:solidFill>
                <a:schemeClr val="dk1"/>
              </a:solidFill>
              <a:latin typeface="Arial"/>
              <a:ea typeface="Arial"/>
              <a:cs typeface="Arial"/>
              <a:sym typeface="Arial"/>
            </a:endParaRPr>
          </a:p>
          <a:p>
            <a:pPr marL="0" lvl="0" indent="0" algn="l" rtl="0">
              <a:lnSpc>
                <a:spcPct val="98181"/>
              </a:lnSpc>
              <a:spcBef>
                <a:spcPts val="1200"/>
              </a:spcBef>
              <a:spcAft>
                <a:spcPts val="0"/>
              </a:spcAft>
              <a:buNone/>
            </a:pPr>
            <a:endParaRPr sz="1600">
              <a:solidFill>
                <a:schemeClr val="dk1"/>
              </a:solidFill>
              <a:latin typeface="Arial"/>
              <a:ea typeface="Arial"/>
              <a:cs typeface="Arial"/>
              <a:sym typeface="Arial"/>
            </a:endParaRPr>
          </a:p>
        </p:txBody>
      </p:sp>
      <p:sp>
        <p:nvSpPr>
          <p:cNvPr id="146" name="Google Shape;146;g3728472e4b2_0_35"/>
          <p:cNvSpPr txBox="1">
            <a:spLocks noGrp="1"/>
          </p:cNvSpPr>
          <p:nvPr>
            <p:ph type="sldNum" idx="12"/>
          </p:nvPr>
        </p:nvSpPr>
        <p:spPr>
          <a:xfrm>
            <a:off x="9299448" y="6391656"/>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pic>
        <p:nvPicPr>
          <p:cNvPr id="147" name="Google Shape;147;g3728472e4b2_0_35"/>
          <p:cNvPicPr preferRelativeResize="0"/>
          <p:nvPr/>
        </p:nvPicPr>
        <p:blipFill>
          <a:blip r:embed="rId3">
            <a:alphaModFix/>
          </a:blip>
          <a:stretch>
            <a:fillRect/>
          </a:stretch>
        </p:blipFill>
        <p:spPr>
          <a:xfrm>
            <a:off x="1389575" y="3810014"/>
            <a:ext cx="3218825" cy="1978711"/>
          </a:xfrm>
          <a:prstGeom prst="rect">
            <a:avLst/>
          </a:prstGeom>
          <a:noFill/>
          <a:ln>
            <a:noFill/>
          </a:ln>
        </p:spPr>
      </p:pic>
      <p:pic>
        <p:nvPicPr>
          <p:cNvPr id="148" name="Google Shape;148;g3728472e4b2_0_35"/>
          <p:cNvPicPr preferRelativeResize="0"/>
          <p:nvPr/>
        </p:nvPicPr>
        <p:blipFill>
          <a:blip r:embed="rId4">
            <a:alphaModFix/>
          </a:blip>
          <a:stretch>
            <a:fillRect/>
          </a:stretch>
        </p:blipFill>
        <p:spPr>
          <a:xfrm>
            <a:off x="4776050" y="3810025"/>
            <a:ext cx="2290175" cy="1978700"/>
          </a:xfrm>
          <a:prstGeom prst="rect">
            <a:avLst/>
          </a:prstGeom>
          <a:noFill/>
          <a:ln>
            <a:noFill/>
          </a:ln>
        </p:spPr>
      </p:pic>
      <p:pic>
        <p:nvPicPr>
          <p:cNvPr id="149" name="Google Shape;149;g3728472e4b2_0_35"/>
          <p:cNvPicPr preferRelativeResize="0"/>
          <p:nvPr/>
        </p:nvPicPr>
        <p:blipFill rotWithShape="1">
          <a:blip r:embed="rId5">
            <a:alphaModFix/>
          </a:blip>
          <a:srcRect t="1409" r="38187"/>
          <a:stretch/>
        </p:blipFill>
        <p:spPr>
          <a:xfrm rot="-5400000">
            <a:off x="7560137" y="3559289"/>
            <a:ext cx="1989299" cy="2469573"/>
          </a:xfrm>
          <a:prstGeom prst="rect">
            <a:avLst/>
          </a:prstGeom>
          <a:noFill/>
          <a:ln>
            <a:noFill/>
          </a:ln>
        </p:spPr>
      </p:pic>
      <p:sp>
        <p:nvSpPr>
          <p:cNvPr id="150" name="Google Shape;150;g3728472e4b2_0_35"/>
          <p:cNvSpPr txBox="1"/>
          <p:nvPr/>
        </p:nvSpPr>
        <p:spPr>
          <a:xfrm>
            <a:off x="1865725" y="5714650"/>
            <a:ext cx="3218700" cy="21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Equipment used for Electropolishing </a:t>
            </a:r>
            <a:endParaRPr sz="1000">
              <a:solidFill>
                <a:schemeClr val="dk1"/>
              </a:solidFill>
              <a:latin typeface="Calibri"/>
              <a:ea typeface="Calibri"/>
              <a:cs typeface="Calibri"/>
              <a:sym typeface="Calibri"/>
            </a:endParaRPr>
          </a:p>
        </p:txBody>
      </p:sp>
      <p:sp>
        <p:nvSpPr>
          <p:cNvPr id="151" name="Google Shape;151;g3728472e4b2_0_35"/>
          <p:cNvSpPr txBox="1"/>
          <p:nvPr/>
        </p:nvSpPr>
        <p:spPr>
          <a:xfrm>
            <a:off x="4745725" y="5714650"/>
            <a:ext cx="3143400" cy="1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Grinded Samples ready for electropolishing </a:t>
            </a:r>
            <a:endParaRPr sz="1000">
              <a:solidFill>
                <a:schemeClr val="dk1"/>
              </a:solidFill>
              <a:latin typeface="Calibri"/>
              <a:ea typeface="Calibri"/>
              <a:cs typeface="Calibri"/>
              <a:sym typeface="Calibri"/>
            </a:endParaRPr>
          </a:p>
        </p:txBody>
      </p:sp>
      <p:sp>
        <p:nvSpPr>
          <p:cNvPr id="152" name="Google Shape;152;g3728472e4b2_0_35"/>
          <p:cNvSpPr txBox="1"/>
          <p:nvPr/>
        </p:nvSpPr>
        <p:spPr>
          <a:xfrm>
            <a:off x="7205100" y="5714650"/>
            <a:ext cx="3005700" cy="13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Sample electropolished and ready for microscopy</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728472e4b2_0_42"/>
          <p:cNvSpPr txBox="1">
            <a:spLocks noGrp="1"/>
          </p:cNvSpPr>
          <p:nvPr>
            <p:ph type="title"/>
          </p:nvPr>
        </p:nvSpPr>
        <p:spPr>
          <a:xfrm>
            <a:off x="322718" y="82677"/>
            <a:ext cx="10345200" cy="7869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sz="5400">
                <a:latin typeface="Arial"/>
                <a:ea typeface="Arial"/>
                <a:cs typeface="Arial"/>
                <a:sym typeface="Arial"/>
              </a:rPr>
              <a:t>Personal Struggles</a:t>
            </a:r>
            <a:r>
              <a:rPr lang="en-US" sz="5400" b="0">
                <a:solidFill>
                  <a:schemeClr val="dk1"/>
                </a:solidFill>
                <a:latin typeface="Arial"/>
                <a:ea typeface="Arial"/>
                <a:cs typeface="Arial"/>
                <a:sym typeface="Arial"/>
              </a:rPr>
              <a:t> </a:t>
            </a:r>
            <a:endParaRPr/>
          </a:p>
        </p:txBody>
      </p:sp>
      <p:sp>
        <p:nvSpPr>
          <p:cNvPr id="159" name="Google Shape;159;g3728472e4b2_0_42"/>
          <p:cNvSpPr txBox="1">
            <a:spLocks noGrp="1"/>
          </p:cNvSpPr>
          <p:nvPr>
            <p:ph type="body" idx="1"/>
          </p:nvPr>
        </p:nvSpPr>
        <p:spPr>
          <a:xfrm>
            <a:off x="322729" y="1255059"/>
            <a:ext cx="11031000" cy="49218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r>
              <a:rPr lang="en-US" sz="2200" dirty="0">
                <a:solidFill>
                  <a:schemeClr val="dk1"/>
                </a:solidFill>
                <a:latin typeface="Arial"/>
                <a:ea typeface="Arial"/>
                <a:cs typeface="Arial"/>
                <a:sym typeface="Arial"/>
              </a:rPr>
              <a:t>Struggled with polishing in early stages</a:t>
            </a:r>
            <a:endParaRPr sz="2200" dirty="0">
              <a:solidFill>
                <a:schemeClr val="dk1"/>
              </a:solidFill>
              <a:latin typeface="Arial"/>
              <a:ea typeface="Arial"/>
              <a:cs typeface="Arial"/>
              <a:sym typeface="Arial"/>
            </a:endParaRPr>
          </a:p>
          <a:p>
            <a:pPr marL="0" lvl="0" indent="0" algn="l" rtl="0">
              <a:lnSpc>
                <a:spcPct val="115000"/>
              </a:lnSpc>
              <a:spcBef>
                <a:spcPts val="0"/>
              </a:spcBef>
              <a:spcAft>
                <a:spcPts val="0"/>
              </a:spcAft>
              <a:buNone/>
            </a:pPr>
            <a:r>
              <a:rPr lang="en-US" sz="2200" dirty="0">
                <a:solidFill>
                  <a:schemeClr val="dk1"/>
                </a:solidFill>
                <a:latin typeface="Arial"/>
                <a:ea typeface="Arial"/>
                <a:cs typeface="Arial"/>
                <a:sym typeface="Arial"/>
              </a:rPr>
              <a:t>Common issues:</a:t>
            </a:r>
            <a:endParaRPr sz="2200" dirty="0">
              <a:solidFill>
                <a:schemeClr val="dk1"/>
              </a:solidFill>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2200" dirty="0">
                <a:solidFill>
                  <a:schemeClr val="dk1"/>
                </a:solidFill>
                <a:latin typeface="Arial"/>
                <a:ea typeface="Arial"/>
                <a:cs typeface="Arial"/>
                <a:sym typeface="Arial"/>
              </a:rPr>
              <a:t>Uneven Grinding</a:t>
            </a:r>
            <a:endParaRPr sz="22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2200" dirty="0">
                <a:solidFill>
                  <a:schemeClr val="dk1"/>
                </a:solidFill>
                <a:latin typeface="Arial"/>
                <a:ea typeface="Arial"/>
                <a:cs typeface="Arial"/>
                <a:sym typeface="Arial"/>
              </a:rPr>
              <a:t>Handling hot objects </a:t>
            </a:r>
            <a:endParaRPr sz="2200" dirty="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2200" dirty="0">
                <a:solidFill>
                  <a:schemeClr val="dk1"/>
                </a:solidFill>
                <a:latin typeface="Arial"/>
                <a:ea typeface="Arial"/>
                <a:cs typeface="Arial"/>
                <a:sym typeface="Arial"/>
              </a:rPr>
              <a:t>Recognizing proper finish</a:t>
            </a:r>
            <a:endParaRPr sz="2200" dirty="0">
              <a:solidFill>
                <a:schemeClr val="dk1"/>
              </a:solidFill>
              <a:latin typeface="Arial"/>
              <a:ea typeface="Arial"/>
              <a:cs typeface="Arial"/>
              <a:sym typeface="Arial"/>
            </a:endParaRPr>
          </a:p>
          <a:p>
            <a:pPr marL="457200" lvl="0" indent="0" algn="l" rtl="0">
              <a:lnSpc>
                <a:spcPct val="98181"/>
              </a:lnSpc>
              <a:spcBef>
                <a:spcPts val="1200"/>
              </a:spcBef>
              <a:spcAft>
                <a:spcPts val="0"/>
              </a:spcAft>
              <a:buNone/>
            </a:pPr>
            <a:endParaRPr sz="2200" dirty="0">
              <a:solidFill>
                <a:schemeClr val="dk1"/>
              </a:solidFill>
              <a:latin typeface="Arial"/>
              <a:ea typeface="Arial"/>
              <a:cs typeface="Arial"/>
              <a:sym typeface="Arial"/>
            </a:endParaRPr>
          </a:p>
        </p:txBody>
      </p:sp>
      <p:pic>
        <p:nvPicPr>
          <p:cNvPr id="160" name="Google Shape;160;g3728472e4b2_0_42"/>
          <p:cNvPicPr preferRelativeResize="0"/>
          <p:nvPr/>
        </p:nvPicPr>
        <p:blipFill>
          <a:blip r:embed="rId3">
            <a:alphaModFix/>
          </a:blip>
          <a:stretch>
            <a:fillRect/>
          </a:stretch>
        </p:blipFill>
        <p:spPr>
          <a:xfrm>
            <a:off x="322725" y="3662775"/>
            <a:ext cx="2175594" cy="2027250"/>
          </a:xfrm>
          <a:prstGeom prst="rect">
            <a:avLst/>
          </a:prstGeom>
          <a:noFill/>
          <a:ln>
            <a:noFill/>
          </a:ln>
        </p:spPr>
      </p:pic>
      <p:pic>
        <p:nvPicPr>
          <p:cNvPr id="161" name="Google Shape;161;g3728472e4b2_0_42"/>
          <p:cNvPicPr preferRelativeResize="0"/>
          <p:nvPr/>
        </p:nvPicPr>
        <p:blipFill rotWithShape="1">
          <a:blip r:embed="rId4">
            <a:alphaModFix/>
          </a:blip>
          <a:srcRect t="17067"/>
          <a:stretch/>
        </p:blipFill>
        <p:spPr>
          <a:xfrm>
            <a:off x="2674375" y="3662775"/>
            <a:ext cx="2175600" cy="2027250"/>
          </a:xfrm>
          <a:prstGeom prst="rect">
            <a:avLst/>
          </a:prstGeom>
          <a:noFill/>
          <a:ln>
            <a:noFill/>
          </a:ln>
        </p:spPr>
      </p:pic>
      <p:pic>
        <p:nvPicPr>
          <p:cNvPr id="162" name="Google Shape;162;g3728472e4b2_0_42"/>
          <p:cNvPicPr preferRelativeResize="0"/>
          <p:nvPr/>
        </p:nvPicPr>
        <p:blipFill rotWithShape="1">
          <a:blip r:embed="rId5">
            <a:alphaModFix/>
          </a:blip>
          <a:srcRect l="19458" t="39335"/>
          <a:stretch/>
        </p:blipFill>
        <p:spPr>
          <a:xfrm>
            <a:off x="7924724" y="3665592"/>
            <a:ext cx="2743200" cy="2021607"/>
          </a:xfrm>
          <a:prstGeom prst="rect">
            <a:avLst/>
          </a:prstGeom>
          <a:noFill/>
          <a:ln>
            <a:noFill/>
          </a:ln>
        </p:spPr>
      </p:pic>
      <p:pic>
        <p:nvPicPr>
          <p:cNvPr id="163" name="Google Shape;163;g3728472e4b2_0_42" title="IMG_0838.JPG"/>
          <p:cNvPicPr preferRelativeResize="0"/>
          <p:nvPr/>
        </p:nvPicPr>
        <p:blipFill rotWithShape="1">
          <a:blip r:embed="rId6">
            <a:alphaModFix/>
          </a:blip>
          <a:srcRect l="34696" t="33025"/>
          <a:stretch/>
        </p:blipFill>
        <p:spPr>
          <a:xfrm>
            <a:off x="5043475" y="3698250"/>
            <a:ext cx="2543299" cy="2027251"/>
          </a:xfrm>
          <a:prstGeom prst="rect">
            <a:avLst/>
          </a:prstGeom>
          <a:noFill/>
          <a:ln>
            <a:noFill/>
          </a:ln>
        </p:spPr>
      </p:pic>
      <p:cxnSp>
        <p:nvCxnSpPr>
          <p:cNvPr id="164" name="Google Shape;164;g3728472e4b2_0_42"/>
          <p:cNvCxnSpPr/>
          <p:nvPr/>
        </p:nvCxnSpPr>
        <p:spPr>
          <a:xfrm>
            <a:off x="7924724" y="4591721"/>
            <a:ext cx="2743200" cy="0"/>
          </a:xfrm>
          <a:prstGeom prst="straightConnector1">
            <a:avLst/>
          </a:prstGeom>
          <a:noFill/>
          <a:ln w="19050" cap="flat" cmpd="sng">
            <a:solidFill>
              <a:schemeClr val="accent4"/>
            </a:solidFill>
            <a:prstDash val="solid"/>
            <a:round/>
            <a:headEnd type="none" w="med" len="med"/>
            <a:tailEnd type="none" w="med" len="med"/>
          </a:ln>
        </p:spPr>
      </p:cxnSp>
      <p:sp>
        <p:nvSpPr>
          <p:cNvPr id="165" name="Google Shape;165;g3728472e4b2_0_42"/>
          <p:cNvSpPr txBox="1"/>
          <p:nvPr/>
        </p:nvSpPr>
        <p:spPr>
          <a:xfrm>
            <a:off x="270175" y="5654550"/>
            <a:ext cx="2175600" cy="27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Brick cracking after very last heat treatment– possibly due to repeated cycles of heat treatments. </a:t>
            </a:r>
            <a:endParaRPr sz="1000">
              <a:solidFill>
                <a:schemeClr val="dk1"/>
              </a:solidFill>
              <a:latin typeface="Calibri"/>
              <a:ea typeface="Calibri"/>
              <a:cs typeface="Calibri"/>
              <a:sym typeface="Calibri"/>
            </a:endParaRPr>
          </a:p>
        </p:txBody>
      </p:sp>
      <p:sp>
        <p:nvSpPr>
          <p:cNvPr id="166" name="Google Shape;166;g3728472e4b2_0_42"/>
          <p:cNvSpPr txBox="1"/>
          <p:nvPr/>
        </p:nvSpPr>
        <p:spPr>
          <a:xfrm>
            <a:off x="2596575" y="5687200"/>
            <a:ext cx="24867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Burn mark left on table– due to mishandling of hot brick with heated samples. </a:t>
            </a:r>
            <a:endParaRPr sz="1000">
              <a:solidFill>
                <a:schemeClr val="dk1"/>
              </a:solidFill>
              <a:latin typeface="Calibri"/>
              <a:ea typeface="Calibri"/>
              <a:cs typeface="Calibri"/>
              <a:sym typeface="Calibri"/>
            </a:endParaRPr>
          </a:p>
        </p:txBody>
      </p:sp>
      <p:sp>
        <p:nvSpPr>
          <p:cNvPr id="167" name="Google Shape;167;g3728472e4b2_0_42"/>
          <p:cNvSpPr txBox="1"/>
          <p:nvPr/>
        </p:nvSpPr>
        <p:spPr>
          <a:xfrm>
            <a:off x="5083275" y="5732200"/>
            <a:ext cx="2743200" cy="27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Early stages of grinding– showcasing uneven surface </a:t>
            </a:r>
            <a:endParaRPr sz="1000">
              <a:solidFill>
                <a:schemeClr val="dk1"/>
              </a:solidFill>
              <a:latin typeface="Calibri"/>
              <a:ea typeface="Calibri"/>
              <a:cs typeface="Calibri"/>
              <a:sym typeface="Calibri"/>
            </a:endParaRPr>
          </a:p>
        </p:txBody>
      </p:sp>
      <p:sp>
        <p:nvSpPr>
          <p:cNvPr id="168" name="Google Shape;168;g3728472e4b2_0_42"/>
          <p:cNvSpPr txBox="1"/>
          <p:nvPr/>
        </p:nvSpPr>
        <p:spPr>
          <a:xfrm>
            <a:off x="7857725" y="5711250"/>
            <a:ext cx="2743200" cy="1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Another example of uneven surface grinded into the sample </a:t>
            </a:r>
            <a:endParaRPr sz="1000">
              <a:solidFill>
                <a:schemeClr val="dk1"/>
              </a:solidFill>
              <a:latin typeface="Calibri"/>
              <a:ea typeface="Calibri"/>
              <a:cs typeface="Calibri"/>
              <a:sym typeface="Calibri"/>
            </a:endParaRPr>
          </a:p>
        </p:txBody>
      </p:sp>
      <p:cxnSp>
        <p:nvCxnSpPr>
          <p:cNvPr id="169" name="Google Shape;169;g3728472e4b2_0_42"/>
          <p:cNvCxnSpPr/>
          <p:nvPr/>
        </p:nvCxnSpPr>
        <p:spPr>
          <a:xfrm>
            <a:off x="5015749" y="4519196"/>
            <a:ext cx="2743200" cy="0"/>
          </a:xfrm>
          <a:prstGeom prst="straightConnector1">
            <a:avLst/>
          </a:prstGeom>
          <a:noFill/>
          <a:ln w="19050" cap="flat" cmpd="sng">
            <a:solidFill>
              <a:schemeClr val="accent4"/>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728472e4b2_0_55"/>
          <p:cNvSpPr txBox="1">
            <a:spLocks noGrp="1"/>
          </p:cNvSpPr>
          <p:nvPr>
            <p:ph type="title"/>
          </p:nvPr>
        </p:nvSpPr>
        <p:spPr>
          <a:xfrm>
            <a:off x="433018" y="82677"/>
            <a:ext cx="10345200" cy="7869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sz="5400">
                <a:latin typeface="Arial"/>
                <a:ea typeface="Arial"/>
                <a:cs typeface="Arial"/>
                <a:sym typeface="Arial"/>
              </a:rPr>
              <a:t>How I Grew </a:t>
            </a:r>
            <a:endParaRPr/>
          </a:p>
        </p:txBody>
      </p:sp>
      <p:sp>
        <p:nvSpPr>
          <p:cNvPr id="176" name="Google Shape;176;g3728472e4b2_0_55"/>
          <p:cNvSpPr txBox="1">
            <a:spLocks noGrp="1"/>
          </p:cNvSpPr>
          <p:nvPr>
            <p:ph type="body" idx="1"/>
          </p:nvPr>
        </p:nvSpPr>
        <p:spPr>
          <a:xfrm>
            <a:off x="322729" y="1255059"/>
            <a:ext cx="11031000" cy="49218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r>
              <a:rPr lang="en-US" sz="2200">
                <a:solidFill>
                  <a:schemeClr val="dk1"/>
                </a:solidFill>
                <a:latin typeface="Arial"/>
                <a:ea typeface="Arial"/>
                <a:cs typeface="Arial"/>
                <a:sym typeface="Arial"/>
              </a:rPr>
              <a:t>Gained confidence with lab tools</a:t>
            </a:r>
            <a:endParaRPr sz="2200">
              <a:solidFill>
                <a:schemeClr val="dk1"/>
              </a:solidFill>
              <a:latin typeface="Arial"/>
              <a:ea typeface="Arial"/>
              <a:cs typeface="Arial"/>
              <a:sym typeface="Arial"/>
            </a:endParaRPr>
          </a:p>
          <a:p>
            <a:pPr marL="0" lvl="0" indent="0" algn="l" rtl="0">
              <a:lnSpc>
                <a:spcPct val="115000"/>
              </a:lnSpc>
              <a:spcBef>
                <a:spcPts val="0"/>
              </a:spcBef>
              <a:spcAft>
                <a:spcPts val="0"/>
              </a:spcAft>
              <a:buNone/>
            </a:pPr>
            <a:r>
              <a:rPr lang="en-US" sz="2200">
                <a:solidFill>
                  <a:schemeClr val="dk1"/>
                </a:solidFill>
                <a:latin typeface="Arial"/>
                <a:ea typeface="Arial"/>
                <a:cs typeface="Arial"/>
                <a:sym typeface="Arial"/>
              </a:rPr>
              <a:t>Improved micrograph interpretation</a:t>
            </a:r>
            <a:endParaRPr sz="2200">
              <a:solidFill>
                <a:schemeClr val="dk1"/>
              </a:solidFill>
              <a:latin typeface="Arial"/>
              <a:ea typeface="Arial"/>
              <a:cs typeface="Arial"/>
              <a:sym typeface="Arial"/>
            </a:endParaRPr>
          </a:p>
          <a:p>
            <a:pPr marL="0" lvl="0" indent="0" algn="l" rtl="0">
              <a:lnSpc>
                <a:spcPct val="115000"/>
              </a:lnSpc>
              <a:spcBef>
                <a:spcPts val="0"/>
              </a:spcBef>
              <a:spcAft>
                <a:spcPts val="0"/>
              </a:spcAft>
              <a:buNone/>
            </a:pPr>
            <a:r>
              <a:rPr lang="en-US" sz="2200">
                <a:solidFill>
                  <a:schemeClr val="dk1"/>
                </a:solidFill>
                <a:latin typeface="Arial"/>
                <a:ea typeface="Arial"/>
                <a:cs typeface="Arial"/>
                <a:sym typeface="Arial"/>
              </a:rPr>
              <a:t>Learned:</a:t>
            </a:r>
            <a:endParaRPr sz="2200">
              <a:solidFill>
                <a:schemeClr val="dk1"/>
              </a:solidFill>
              <a:latin typeface="Arial"/>
              <a:ea typeface="Arial"/>
              <a:cs typeface="Arial"/>
              <a:sym typeface="Arial"/>
            </a:endParaRPr>
          </a:p>
          <a:p>
            <a:pPr marL="457200" lvl="0" indent="-298450" algn="l" rtl="0">
              <a:lnSpc>
                <a:spcPct val="115000"/>
              </a:lnSpc>
              <a:spcBef>
                <a:spcPts val="1200"/>
              </a:spcBef>
              <a:spcAft>
                <a:spcPts val="0"/>
              </a:spcAft>
              <a:buClr>
                <a:schemeClr val="dk1"/>
              </a:buClr>
              <a:buSzPts val="1100"/>
              <a:buChar char="●"/>
            </a:pPr>
            <a:r>
              <a:rPr lang="en-US" sz="2200">
                <a:solidFill>
                  <a:schemeClr val="dk1"/>
                </a:solidFill>
                <a:latin typeface="Arial"/>
                <a:ea typeface="Arial"/>
                <a:cs typeface="Arial"/>
                <a:sym typeface="Arial"/>
              </a:rPr>
              <a:t>Troubleshooting techniques</a:t>
            </a:r>
            <a:endParaRPr sz="2200">
              <a:solidFill>
                <a:schemeClr val="dk1"/>
              </a:solidFill>
              <a:latin typeface="Arial"/>
              <a:ea typeface="Arial"/>
              <a:cs typeface="Arial"/>
              <a:sym typeface="Arial"/>
            </a:endParaRPr>
          </a:p>
          <a:p>
            <a:pPr marL="457200" lvl="0" indent="-298450" algn="l" rtl="0">
              <a:lnSpc>
                <a:spcPct val="115000"/>
              </a:lnSpc>
              <a:spcBef>
                <a:spcPts val="0"/>
              </a:spcBef>
              <a:spcAft>
                <a:spcPts val="0"/>
              </a:spcAft>
              <a:buClr>
                <a:schemeClr val="dk1"/>
              </a:buClr>
              <a:buSzPts val="1100"/>
              <a:buChar char="●"/>
            </a:pPr>
            <a:r>
              <a:rPr lang="en-US" sz="2200">
                <a:solidFill>
                  <a:schemeClr val="dk1"/>
                </a:solidFill>
                <a:latin typeface="Arial"/>
                <a:ea typeface="Arial"/>
                <a:cs typeface="Arial"/>
                <a:sym typeface="Arial"/>
              </a:rPr>
              <a:t>Lab discipline and consistency</a:t>
            </a:r>
            <a:endParaRPr sz="2200">
              <a:solidFill>
                <a:schemeClr val="dk1"/>
              </a:solidFill>
              <a:latin typeface="Arial"/>
              <a:ea typeface="Arial"/>
              <a:cs typeface="Arial"/>
              <a:sym typeface="Arial"/>
            </a:endParaRPr>
          </a:p>
          <a:p>
            <a:pPr marL="457200" lvl="0" indent="0" algn="l" rtl="0">
              <a:lnSpc>
                <a:spcPct val="98181"/>
              </a:lnSpc>
              <a:spcBef>
                <a:spcPts val="1200"/>
              </a:spcBef>
              <a:spcAft>
                <a:spcPts val="0"/>
              </a:spcAft>
              <a:buNone/>
            </a:pPr>
            <a:r>
              <a:rPr lang="en-US" sz="2200">
                <a:solidFill>
                  <a:schemeClr val="dk1"/>
                </a:solidFill>
                <a:latin typeface="Arial"/>
                <a:ea typeface="Arial"/>
                <a:cs typeface="Arial"/>
                <a:sym typeface="Arial"/>
              </a:rPr>
              <a:t> </a:t>
            </a:r>
            <a:endParaRPr sz="3000"/>
          </a:p>
        </p:txBody>
      </p:sp>
      <p:sp>
        <p:nvSpPr>
          <p:cNvPr id="177" name="Google Shape;177;g3728472e4b2_0_55"/>
          <p:cNvSpPr txBox="1">
            <a:spLocks noGrp="1"/>
          </p:cNvSpPr>
          <p:nvPr>
            <p:ph type="sldNum" idx="12"/>
          </p:nvPr>
        </p:nvSpPr>
        <p:spPr>
          <a:xfrm>
            <a:off x="9299448" y="6391656"/>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pic>
        <p:nvPicPr>
          <p:cNvPr id="178" name="Google Shape;178;g3728472e4b2_0_55"/>
          <p:cNvPicPr preferRelativeResize="0"/>
          <p:nvPr/>
        </p:nvPicPr>
        <p:blipFill>
          <a:blip r:embed="rId3">
            <a:alphaModFix/>
          </a:blip>
          <a:stretch>
            <a:fillRect/>
          </a:stretch>
        </p:blipFill>
        <p:spPr>
          <a:xfrm>
            <a:off x="1188901" y="3695225"/>
            <a:ext cx="2843351" cy="1976250"/>
          </a:xfrm>
          <a:prstGeom prst="rect">
            <a:avLst/>
          </a:prstGeom>
          <a:noFill/>
          <a:ln>
            <a:noFill/>
          </a:ln>
        </p:spPr>
      </p:pic>
      <p:pic>
        <p:nvPicPr>
          <p:cNvPr id="179" name="Google Shape;179;g3728472e4b2_0_55"/>
          <p:cNvPicPr preferRelativeResize="0"/>
          <p:nvPr/>
        </p:nvPicPr>
        <p:blipFill>
          <a:blip r:embed="rId4">
            <a:alphaModFix/>
          </a:blip>
          <a:stretch>
            <a:fillRect/>
          </a:stretch>
        </p:blipFill>
        <p:spPr>
          <a:xfrm>
            <a:off x="4290875" y="3695225"/>
            <a:ext cx="2843349" cy="1976250"/>
          </a:xfrm>
          <a:prstGeom prst="rect">
            <a:avLst/>
          </a:prstGeom>
          <a:noFill/>
          <a:ln>
            <a:noFill/>
          </a:ln>
        </p:spPr>
      </p:pic>
      <p:pic>
        <p:nvPicPr>
          <p:cNvPr id="180" name="Google Shape;180;g3728472e4b2_0_55"/>
          <p:cNvPicPr preferRelativeResize="0"/>
          <p:nvPr/>
        </p:nvPicPr>
        <p:blipFill rotWithShape="1">
          <a:blip r:embed="rId5">
            <a:alphaModFix/>
          </a:blip>
          <a:srcRect t="37453"/>
          <a:stretch/>
        </p:blipFill>
        <p:spPr>
          <a:xfrm>
            <a:off x="7439350" y="3695225"/>
            <a:ext cx="2306875" cy="1976250"/>
          </a:xfrm>
          <a:prstGeom prst="rect">
            <a:avLst/>
          </a:prstGeom>
          <a:noFill/>
          <a:ln>
            <a:noFill/>
          </a:ln>
        </p:spPr>
      </p:pic>
      <p:sp>
        <p:nvSpPr>
          <p:cNvPr id="181" name="Google Shape;181;g3728472e4b2_0_55"/>
          <p:cNvSpPr txBox="1"/>
          <p:nvPr/>
        </p:nvSpPr>
        <p:spPr>
          <a:xfrm>
            <a:off x="1012475" y="5671475"/>
            <a:ext cx="3344400" cy="33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Tray of over 30+ evenly grinded and heat treated samples</a:t>
            </a:r>
            <a:endParaRPr sz="1000">
              <a:solidFill>
                <a:schemeClr val="dk1"/>
              </a:solidFill>
              <a:latin typeface="Calibri"/>
              <a:ea typeface="Calibri"/>
              <a:cs typeface="Calibri"/>
              <a:sym typeface="Calibri"/>
            </a:endParaRPr>
          </a:p>
        </p:txBody>
      </p:sp>
      <p:sp>
        <p:nvSpPr>
          <p:cNvPr id="182" name="Google Shape;182;g3728472e4b2_0_55"/>
          <p:cNvSpPr txBox="1"/>
          <p:nvPr/>
        </p:nvSpPr>
        <p:spPr>
          <a:xfrm>
            <a:off x="4232950" y="5671475"/>
            <a:ext cx="3005700" cy="33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Initial furnace broke down– due to my heat treatment skills I was able to successfully move the bigger furnace without any issues. </a:t>
            </a:r>
            <a:endParaRPr sz="1000">
              <a:solidFill>
                <a:schemeClr val="dk1"/>
              </a:solidFill>
              <a:latin typeface="Calibri"/>
              <a:ea typeface="Calibri"/>
              <a:cs typeface="Calibri"/>
              <a:sym typeface="Calibri"/>
            </a:endParaRPr>
          </a:p>
        </p:txBody>
      </p:sp>
      <p:sp>
        <p:nvSpPr>
          <p:cNvPr id="183" name="Google Shape;183;g3728472e4b2_0_55"/>
          <p:cNvSpPr txBox="1"/>
          <p:nvPr/>
        </p:nvSpPr>
        <p:spPr>
          <a:xfrm>
            <a:off x="7439350" y="5671475"/>
            <a:ext cx="2307000" cy="2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dk1"/>
                </a:solidFill>
                <a:latin typeface="Calibri"/>
                <a:ea typeface="Calibri"/>
                <a:cs typeface="Calibri"/>
                <a:sym typeface="Calibri"/>
              </a:rPr>
              <a:t>One of the samples I grinded and polished with no imperfections or cracks</a:t>
            </a:r>
            <a:endParaRPr sz="1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728472e4b2_0_64"/>
          <p:cNvSpPr txBox="1">
            <a:spLocks noGrp="1"/>
          </p:cNvSpPr>
          <p:nvPr>
            <p:ph type="title"/>
          </p:nvPr>
        </p:nvSpPr>
        <p:spPr>
          <a:xfrm>
            <a:off x="322718" y="115527"/>
            <a:ext cx="10345200" cy="7869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US" sz="5400">
                <a:latin typeface="Arial"/>
                <a:ea typeface="Arial"/>
                <a:cs typeface="Arial"/>
                <a:sym typeface="Arial"/>
              </a:rPr>
              <a:t>Broader Impacts &amp; Reflection</a:t>
            </a:r>
            <a:r>
              <a:rPr lang="en-US" sz="5400" b="0">
                <a:solidFill>
                  <a:schemeClr val="dk1"/>
                </a:solidFill>
                <a:latin typeface="Arial"/>
                <a:ea typeface="Arial"/>
                <a:cs typeface="Arial"/>
                <a:sym typeface="Arial"/>
              </a:rPr>
              <a:t>s </a:t>
            </a:r>
            <a:endParaRPr/>
          </a:p>
        </p:txBody>
      </p:sp>
      <p:sp>
        <p:nvSpPr>
          <p:cNvPr id="190" name="Google Shape;190;g3728472e4b2_0_64"/>
          <p:cNvSpPr txBox="1">
            <a:spLocks noGrp="1"/>
          </p:cNvSpPr>
          <p:nvPr>
            <p:ph type="body" idx="1"/>
          </p:nvPr>
        </p:nvSpPr>
        <p:spPr>
          <a:xfrm>
            <a:off x="322729" y="1255059"/>
            <a:ext cx="11031000" cy="4921800"/>
          </a:xfrm>
          <a:prstGeom prst="rect">
            <a:avLst/>
          </a:prstGeom>
        </p:spPr>
        <p:txBody>
          <a:bodyPr spcFirstLastPara="1" wrap="square" lIns="91425" tIns="45700" rIns="91425" bIns="45700" anchor="t" anchorCtr="0">
            <a:normAutofit/>
          </a:bodyPr>
          <a:lstStyle/>
          <a:p>
            <a:pPr marL="0" lvl="0" indent="0" algn="l" rtl="0">
              <a:lnSpc>
                <a:spcPct val="98181"/>
              </a:lnSpc>
              <a:spcBef>
                <a:spcPts val="1000"/>
              </a:spcBef>
              <a:spcAft>
                <a:spcPts val="0"/>
              </a:spcAft>
              <a:buClr>
                <a:schemeClr val="dk1"/>
              </a:buClr>
              <a:buSzPts val="1100"/>
              <a:buFont typeface="Arial"/>
              <a:buNone/>
            </a:pPr>
            <a:r>
              <a:rPr lang="en-US" sz="2200">
                <a:solidFill>
                  <a:schemeClr val="dk1"/>
                </a:solidFill>
                <a:latin typeface="Arial"/>
                <a:ea typeface="Arial"/>
                <a:cs typeface="Arial"/>
                <a:sym typeface="Arial"/>
              </a:rPr>
              <a:t>•Overall, my time in Dr. Frame’s lab was challenging but incredibly rewarding. I started with very little lab experience, and by the end, I had completed a full research cycle from preparing samples to analyzing results. I’m proud of how far I came and how much I learned, both technically and personally. This project pushed me to think critically, stay persistent, and believe in my ability to figure things out, even when it wasn’t easy. I got hands-on exposure to industry-relevant testing methods and heat treatments, and now I feel much more prepared for future internships or research opportunities. </a:t>
            </a:r>
            <a:endParaRPr sz="2200">
              <a:solidFill>
                <a:schemeClr val="dk1"/>
              </a:solidFill>
              <a:latin typeface="Arial"/>
              <a:ea typeface="Arial"/>
              <a:cs typeface="Arial"/>
              <a:sym typeface="Arial"/>
            </a:endParaRPr>
          </a:p>
          <a:p>
            <a:pPr marL="0" lvl="0" indent="0" algn="l" rtl="0">
              <a:spcBef>
                <a:spcPts val="1000"/>
              </a:spcBef>
              <a:spcAft>
                <a:spcPts val="0"/>
              </a:spcAft>
              <a:buNone/>
            </a:pPr>
            <a:endParaRPr/>
          </a:p>
        </p:txBody>
      </p:sp>
      <p:sp>
        <p:nvSpPr>
          <p:cNvPr id="191" name="Google Shape;191;g3728472e4b2_0_64"/>
          <p:cNvSpPr txBox="1">
            <a:spLocks noGrp="1"/>
          </p:cNvSpPr>
          <p:nvPr>
            <p:ph type="sldNum" idx="12"/>
          </p:nvPr>
        </p:nvSpPr>
        <p:spPr>
          <a:xfrm>
            <a:off x="9299448" y="6391656"/>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sld>
</file>

<file path=ppt/theme/theme1.xml><?xml version="1.0" encoding="utf-8"?>
<a:theme xmlns:a="http://schemas.openxmlformats.org/drawingml/2006/main" name="Custom Design">
  <a:themeElements>
    <a:clrScheme name="Frame Lab">
      <a:dk1>
        <a:srgbClr val="000000"/>
      </a:dk1>
      <a:lt1>
        <a:srgbClr val="FFFFFF"/>
      </a:lt1>
      <a:dk2>
        <a:srgbClr val="002060"/>
      </a:dk2>
      <a:lt2>
        <a:srgbClr val="E7E6E6"/>
      </a:lt2>
      <a:accent1>
        <a:srgbClr val="92D050"/>
      </a:accent1>
      <a:accent2>
        <a:srgbClr val="379E9E"/>
      </a:accent2>
      <a:accent3>
        <a:srgbClr val="FE5000"/>
      </a:accent3>
      <a:accent4>
        <a:srgbClr val="FFF759"/>
      </a:accent4>
      <a:accent5>
        <a:srgbClr val="58789E"/>
      </a:accent5>
      <a:accent6>
        <a:srgbClr val="60D4F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1075</Words>
  <Application>Microsoft Macintosh PowerPoint</Application>
  <PresentationFormat>Widescreen</PresentationFormat>
  <Paragraphs>103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Calibri</vt:lpstr>
      <vt:lpstr>Custom Design</vt:lpstr>
      <vt:lpstr>Impact of phase assemblage and grain morphology  on retained austenite stability </vt:lpstr>
      <vt:lpstr>Introduction: Overview Of My Workings </vt:lpstr>
      <vt:lpstr>My Focus </vt:lpstr>
      <vt:lpstr>Key Techniques I learned </vt:lpstr>
      <vt:lpstr>Heat Treating </vt:lpstr>
      <vt:lpstr>Why We Chose Air Quenching Over Oil Quenching</vt:lpstr>
      <vt:lpstr>Data Analysis &amp; Results </vt:lpstr>
      <vt:lpstr>Personal Struggles </vt:lpstr>
      <vt:lpstr>How I Grew </vt:lpstr>
      <vt:lpstr>Broader Impacts &amp; Reflections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Melanie Noble</dc:creator>
  <cp:lastModifiedBy>Fox, Jada</cp:lastModifiedBy>
  <cp:revision>1</cp:revision>
  <dcterms:created xsi:type="dcterms:W3CDTF">2017-10-20T00:09:13Z</dcterms:created>
  <dcterms:modified xsi:type="dcterms:W3CDTF">2025-08-08T12:36:36Z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0x010100ED7DDB884101BF43AD36487F06175C6C</vt:lpwstr>
  </property>
</Properties>
</file>